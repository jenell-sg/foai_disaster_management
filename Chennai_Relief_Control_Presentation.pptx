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relief planning asks three questions" id="{958ca5bd-a7f1-da8e-d43f-9a16e35ffe3d}">
          <p14:sldIdLst>
            <p14:sldId id="256"/>
            <p14:sldId id="257"/>
          </p14:sldIdLst>
        </p14:section>
        <p14:section name="How the system turns weather into a dispatch plan" id="{7045aa48-9a01-7b5a-1dcf-29455a79fffe}">
          <p14:sldIdLst>
            <p14:sldId id="258"/>
            <p14:sldId id="259"/>
            <p14:sldId id="260"/>
            <p14:sldId id="261"/>
            <p14:sldId id="262"/>
            <p14:sldId id="263"/>
            <p14:sldId id="264"/>
          </p14:sldIdLst>
        </p14:section>
        <p14:section name="What the audit found and what the repair does" id="{6e94566a-3ed5-3819-b560-976a1be3b36e}">
          <p14:sldIdLst>
            <p14:sldId id="265"/>
            <p14:sldId id="266"/>
            <p14:sldId id="267"/>
            <p14:sldId id="268"/>
          </p14:sldIdLst>
        </p14:section>
        <p14:section name="Tests, limits and next steps" id="{b02c7620-7e63-0539-e1a4-8bffaef8e78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Shipped, 2015 floods</c:v>
                </c:pt>
              </c:strCache>
            </c:strRef>
          </c:tx>
          <c:spPr>
            <a:solidFill>
              <a:srgbClr val="C23B22"/>
            </a:solidFill>
            <a:ln w="38100" cap="flat">
              <a:solidFill>
                <a:srgbClr val="C23B22"/>
              </a:solidFill>
              <a:prstDash val="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23B22"/>
              </a:solidFill>
              <a:ln w="9525" cap="flat">
                <a:solidFill>
                  <a:srgbClr val="C23B22"/>
                </a:solidFill>
                <a:prstDash val="solid"/>
                <a:round/>
              </a:ln>
              <a:effectLst/>
            </c:spPr>
          </c:marker>
          <c:cat>
            <c:multiLvlStrRef>
              <c:f>Sheet1!$A$2:$A$11</c:f>
              <c:multiLvlStrCache>
                <c:ptCount val="10"/>
                <c:lvl>
                  <c:pt idx="0">
                    <c:v>0</c:v>
                  </c:pt>
                  <c:pt idx="1">
                    <c:v>25</c:v>
                  </c:pt>
                  <c:pt idx="2">
                    <c:v>50</c:v>
                  </c:pt>
                  <c:pt idx="3">
                    <c:v>75</c:v>
                  </c:pt>
                  <c:pt idx="4">
                    <c:v>100</c:v>
                  </c:pt>
                  <c:pt idx="5">
                    <c:v>125</c:v>
                  </c:pt>
                  <c:pt idx="6">
                    <c:v>150</c:v>
                  </c:pt>
                  <c:pt idx="7">
                    <c:v>175</c:v>
                  </c:pt>
                  <c:pt idx="8">
                    <c:v>200</c:v>
                  </c:pt>
                  <c:pt idx="9">
                    <c:v>225</c:v>
                  </c:pt>
                </c:lvl>
              </c:multiLvlStrCache>
            </c:multiLvlStrRef>
          </c:cat>
          <c:val>
            <c:numRef>
              <c:f>Sheet1!$B$2:$B$11</c:f>
              <c:numCache>
                <c:formatCode>General</c:formatCode>
                <c:ptCount val="10"/>
                <c:pt idx="0">
                  <c:v>35</c:v>
                </c:pt>
                <c:pt idx="1">
                  <c:v>35</c:v>
                </c:pt>
                <c:pt idx="2">
                  <c:v>35</c:v>
                </c:pt>
                <c:pt idx="3">
                  <c:v>35</c:v>
                </c:pt>
                <c:pt idx="4">
                  <c:v>35</c:v>
                </c:pt>
                <c:pt idx="5">
                  <c:v>35</c:v>
                </c:pt>
                <c:pt idx="6">
                  <c:v>35</c:v>
                </c:pt>
                <c:pt idx="7">
                  <c:v>35</c:v>
                </c:pt>
                <c:pt idx="8">
                  <c:v>35</c:v>
                </c:pt>
                <c:pt idx="9">
                  <c:v>35</c:v>
                </c:pt>
              </c:numCache>
            </c:numRef>
          </c:val>
          <c:smooth val="0"/>
        </c:ser>
        <c:ser>
          <c:idx val="1"/>
          <c:order val="1"/>
          <c:tx>
            <c:strRef>
              <c:f>Sheet1!$C$1</c:f>
              <c:strCache>
                <c:ptCount val="1"/>
                <c:pt idx="0">
                  <c:v>Repaired, 2015 floods</c:v>
                </c:pt>
              </c:strCache>
            </c:strRef>
          </c:tx>
          <c:spPr>
            <a:solidFill>
              <a:srgbClr val="1F6AB8"/>
            </a:solidFill>
            <a:ln w="38100" cap="flat">
              <a:solidFill>
                <a:srgbClr val="1F6AB8"/>
              </a:solidFill>
              <a:prstDash val="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F6AB8"/>
              </a:solidFill>
              <a:ln w="9525" cap="flat">
                <a:solidFill>
                  <a:srgbClr val="1F6AB8"/>
                </a:solidFill>
                <a:prstDash val="solid"/>
                <a:round/>
              </a:ln>
              <a:effectLst/>
            </c:spPr>
          </c:marker>
          <c:cat>
            <c:multiLvlStrRef>
              <c:f>Sheet1!$A$2:$A$11</c:f>
              <c:multiLvlStrCache>
                <c:ptCount val="10"/>
                <c:lvl>
                  <c:pt idx="0">
                    <c:v>0</c:v>
                  </c:pt>
                  <c:pt idx="1">
                    <c:v>25</c:v>
                  </c:pt>
                  <c:pt idx="2">
                    <c:v>50</c:v>
                  </c:pt>
                  <c:pt idx="3">
                    <c:v>75</c:v>
                  </c:pt>
                  <c:pt idx="4">
                    <c:v>100</c:v>
                  </c:pt>
                  <c:pt idx="5">
                    <c:v>125</c:v>
                  </c:pt>
                  <c:pt idx="6">
                    <c:v>150</c:v>
                  </c:pt>
                  <c:pt idx="7">
                    <c:v>175</c:v>
                  </c:pt>
                  <c:pt idx="8">
                    <c:v>200</c:v>
                  </c:pt>
                  <c:pt idx="9">
                    <c:v>225</c:v>
                  </c:pt>
                </c:lvl>
              </c:multiLvlStrCache>
            </c:multiLvlStrRef>
          </c:cat>
          <c:val>
            <c:numRef>
              <c:f>Sheet1!$C$2:$C$11</c:f>
              <c:numCache>
                <c:formatCode>General</c:formatCode>
                <c:ptCount val="10"/>
                <c:pt idx="0">
                  <c:v>30</c:v>
                </c:pt>
                <c:pt idx="1">
                  <c:v>25</c:v>
                </c:pt>
                <c:pt idx="2">
                  <c:v>25</c:v>
                </c:pt>
                <c:pt idx="3">
                  <c:v>25</c:v>
                </c:pt>
                <c:pt idx="4">
                  <c:v>25</c:v>
                </c:pt>
                <c:pt idx="5">
                  <c:v>25</c:v>
                </c:pt>
                <c:pt idx="6">
                  <c:v>23</c:v>
                </c:pt>
                <c:pt idx="7">
                  <c:v>23</c:v>
                </c:pt>
                <c:pt idx="8">
                  <c:v>23</c:v>
                </c:pt>
                <c:pt idx="9">
                  <c:v>22</c:v>
                </c:pt>
              </c:numCache>
            </c:numRef>
          </c:val>
          <c:smooth val="0"/>
        </c:ser>
        <c:ser>
          <c:idx val="2"/>
          <c:order val="2"/>
          <c:tx>
            <c:strRef>
              <c:f>Sheet1!$D$1</c:f>
              <c:strCache>
                <c:ptCount val="1"/>
                <c:pt idx="0">
                  <c:v>Repaired, Michaung</c:v>
                </c:pt>
              </c:strCache>
            </c:strRef>
          </c:tx>
          <c:spPr>
            <a:solidFill>
              <a:srgbClr val="0C1A29"/>
            </a:solidFill>
            <a:ln w="38100" cap="flat">
              <a:solidFill>
                <a:srgbClr val="0C1A29"/>
              </a:solidFill>
              <a:prstDash val="solid,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C1A29"/>
              </a:solidFill>
              <a:ln w="9525" cap="flat">
                <a:solidFill>
                  <a:srgbClr val="0C1A29"/>
                </a:solidFill>
                <a:prstDash val="solid"/>
                <a:round/>
              </a:ln>
              <a:effectLst/>
            </c:spPr>
          </c:marker>
          <c:cat>
            <c:multiLvlStrRef>
              <c:f>Sheet1!$A$2:$A$11</c:f>
              <c:multiLvlStrCache>
                <c:ptCount val="10"/>
                <c:lvl>
                  <c:pt idx="0">
                    <c:v>0</c:v>
                  </c:pt>
                  <c:pt idx="1">
                    <c:v>25</c:v>
                  </c:pt>
                  <c:pt idx="2">
                    <c:v>50</c:v>
                  </c:pt>
                  <c:pt idx="3">
                    <c:v>75</c:v>
                  </c:pt>
                  <c:pt idx="4">
                    <c:v>100</c:v>
                  </c:pt>
                  <c:pt idx="5">
                    <c:v>125</c:v>
                  </c:pt>
                  <c:pt idx="6">
                    <c:v>150</c:v>
                  </c:pt>
                  <c:pt idx="7">
                    <c:v>175</c:v>
                  </c:pt>
                  <c:pt idx="8">
                    <c:v>200</c:v>
                  </c:pt>
                  <c:pt idx="9">
                    <c:v>225</c:v>
                  </c:pt>
                </c:lvl>
              </c:multiLvlStrCache>
            </c:multiLvlStrRef>
          </c:cat>
          <c:val>
            <c:numRef>
              <c:f>Sheet1!$D$2:$D$11</c:f>
              <c:numCache>
                <c:formatCode>General</c:formatCode>
                <c:ptCount val="10"/>
                <c:pt idx="0">
                  <c:v>35</c:v>
                </c:pt>
                <c:pt idx="1">
                  <c:v>25</c:v>
                </c:pt>
                <c:pt idx="2">
                  <c:v>24</c:v>
                </c:pt>
                <c:pt idx="3">
                  <c:v>24</c:v>
                </c:pt>
                <c:pt idx="4">
                  <c:v>23</c:v>
                </c:pt>
                <c:pt idx="5">
                  <c:v>22</c:v>
                </c:pt>
                <c:pt idx="6">
                  <c:v>21</c:v>
                </c:pt>
                <c:pt idx="7">
                  <c:v>20</c:v>
                </c:pt>
                <c:pt idx="8">
                  <c:v>19</c:v>
                </c:pt>
                <c:pt idx="9">
                  <c:v>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865"/>
                    </a:solidFill>
                    <a:latin typeface="+mn-lt"/>
                  </a:defRPr>
                </a:pPr>
                <a:r>
                  <a:rPr sz="1200" b="0" i="0" u="none" strike="noStrike">
                    <a:solidFill>
                      <a:srgbClr val="4A5865"/>
                    </a:solidFill>
                    <a:latin typeface="+mn-lt"/>
                  </a:rPr>
                  <a:t>Generation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975"/>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D7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975"/>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4A586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Reported on screen, % of areas</c:v>
                </c:pt>
              </c:strCache>
            </c:strRef>
          </c:tx>
          <c:spPr>
            <a:solidFill>
              <a:srgbClr val="C23B22"/>
            </a:solidFill>
            <a:effectLst/>
          </c:spPr>
          <c:invertIfNegative val="0"/>
          <c:dLbls>
            <c:numFmt formatCode="0.0" sourceLinked="0"/>
            <c:txPr>
              <a:bodyPr/>
              <a:lstStyle/>
              <a:p>
                <a:pPr>
                  <a:defRPr b="1" i="0" strike="noStrike" sz="1300" u="none">
                    <a:solidFill>
                      <a:srgbClr val="0C1A29"/>
                    </a:solidFill>
                    <a:latin typeface="+mn-lt"/>
                  </a:defRPr>
                </a:pPr>
              </a:p>
            </c:txPr>
            <c:showLegendKey val="0"/>
            <c:showVal val="1"/>
            <c:showCatName val="0"/>
            <c:showSerName val="0"/>
            <c:showPercent val="0"/>
            <c:showBubbleSize val="0"/>
            <c:showLeaderLines val="0"/>
          </c:dLbls>
          <c:cat>
            <c:multiLvlStrRef>
              <c:f>Sheet1!$A$2:$A$7</c:f>
              <c:multiLvlStrCache>
                <c:ptCount val="6"/>
                <c:lvl>
                  <c:pt idx="0">
                    <c:v>Floods 2015
gap 23.5</c:v>
                  </c:pt>
                  <c:pt idx="1">
                    <c:v>Vardah 2016
gap 7.4</c:v>
                  </c:pt>
                  <c:pt idx="2">
                    <c:v>Michaung 2023
gap 20.7</c:v>
                  </c:pt>
                  <c:pt idx="3">
                    <c:v>Fengal 2024
gap 4.8</c:v>
                  </c:pt>
                  <c:pt idx="4">
                    <c:v>Cyclone drill
gap 6.2</c:v>
                  </c:pt>
                  <c:pt idx="5">
                    <c:v>Quake drill
gap 6.5</c:v>
                  </c:pt>
                </c:lvl>
              </c:multiLvlStrCache>
            </c:multiLvlStrRef>
          </c:cat>
          <c:val>
            <c:numRef>
              <c:f>Sheet1!$B$2:$B$7</c:f>
              <c:numCache>
                <c:formatCode>General</c:formatCode>
                <c:ptCount val="6"/>
                <c:pt idx="0">
                  <c:v>66.5</c:v>
                </c:pt>
                <c:pt idx="1">
                  <c:v>49.7</c:v>
                </c:pt>
                <c:pt idx="2">
                  <c:v>58.1</c:v>
                </c:pt>
                <c:pt idx="3">
                  <c:v>83.9</c:v>
                </c:pt>
                <c:pt idx="4">
                  <c:v>37.7</c:v>
                </c:pt>
                <c:pt idx="5">
                  <c:v>45.9</c:v>
                </c:pt>
              </c:numCache>
            </c:numRef>
          </c:val>
        </c:ser>
        <c:ser>
          <c:idx val="1"/>
          <c:order val="1"/>
          <c:tx>
            <c:strRef>
              <c:f>Sheet1!$C$1</c:f>
              <c:strCache>
                <c:ptCount val="1"/>
                <c:pt idx="0">
                  <c:v>Reached by road, % of areas</c:v>
                </c:pt>
              </c:strCache>
            </c:strRef>
          </c:tx>
          <c:spPr>
            <a:solidFill>
              <a:srgbClr val="1F6AB8"/>
            </a:solidFill>
            <a:effectLst/>
          </c:spPr>
          <c:invertIfNegative val="0"/>
          <c:dLbls>
            <c:numFmt formatCode="0.0" sourceLinked="0"/>
            <c:txPr>
              <a:bodyPr/>
              <a:lstStyle/>
              <a:p>
                <a:pPr>
                  <a:defRPr b="1" i="0" strike="noStrike" sz="1300" u="none">
                    <a:solidFill>
                      <a:srgbClr val="0C1A29"/>
                    </a:solidFill>
                    <a:latin typeface="+mn-lt"/>
                  </a:defRPr>
                </a:pPr>
              </a:p>
            </c:txPr>
            <c:showLegendKey val="0"/>
            <c:showVal val="1"/>
            <c:showCatName val="0"/>
            <c:showSerName val="0"/>
            <c:showPercent val="0"/>
            <c:showBubbleSize val="0"/>
            <c:showLeaderLines val="0"/>
          </c:dLbls>
          <c:cat>
            <c:multiLvlStrRef>
              <c:f>Sheet1!$A$2:$A$7</c:f>
              <c:multiLvlStrCache>
                <c:ptCount val="6"/>
                <c:lvl>
                  <c:pt idx="0">
                    <c:v>Floods 2015
gap 23.5</c:v>
                  </c:pt>
                  <c:pt idx="1">
                    <c:v>Vardah 2016
gap 7.4</c:v>
                  </c:pt>
                  <c:pt idx="2">
                    <c:v>Michaung 2023
gap 20.7</c:v>
                  </c:pt>
                  <c:pt idx="3">
                    <c:v>Fengal 2024
gap 4.8</c:v>
                  </c:pt>
                  <c:pt idx="4">
                    <c:v>Cyclone drill
gap 6.2</c:v>
                  </c:pt>
                  <c:pt idx="5">
                    <c:v>Quake drill
gap 6.5</c:v>
                  </c:pt>
                </c:lvl>
              </c:multiLvlStrCache>
            </c:multiLvlStrRef>
          </c:cat>
          <c:val>
            <c:numRef>
              <c:f>Sheet1!$C$2:$C$7</c:f>
              <c:numCache>
                <c:formatCode>General</c:formatCode>
                <c:ptCount val="6"/>
                <c:pt idx="0">
                  <c:v>43</c:v>
                </c:pt>
                <c:pt idx="1">
                  <c:v>42.3</c:v>
                </c:pt>
                <c:pt idx="2">
                  <c:v>37.4</c:v>
                </c:pt>
                <c:pt idx="3">
                  <c:v>79.1</c:v>
                </c:pt>
                <c:pt idx="4">
                  <c:v>31.5</c:v>
                </c:pt>
                <c:pt idx="5">
                  <c:v>39.4</c:v>
                </c:pt>
              </c:numCache>
            </c:numRef>
          </c:val>
        </c:ser>
        <c:dLbls>
          <c:numFmt formatCode="0.0" sourceLinked="0"/>
          <c:txPr>
            <a:bodyPr/>
            <a:lstStyle/>
            <a:p>
              <a:pPr>
                <a:defRPr b="1" i="0" strike="noStrike" sz="1300" u="none">
                  <a:solidFill>
                    <a:srgbClr val="0C1A29"/>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865"/>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A586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Shipped</c:v>
                </c:pt>
              </c:strCache>
            </c:strRef>
          </c:tx>
          <c:spPr>
            <a:solidFill>
              <a:srgbClr val="5E6C78"/>
            </a:solidFill>
            <a:effectLst/>
          </c:spPr>
          <c:invertIfNegative val="0"/>
          <c:dLbls>
            <c:numFmt formatCode="0.0" sourceLinked="0"/>
            <c:txPr>
              <a:bodyPr/>
              <a:lstStyle/>
              <a:p>
                <a:pPr>
                  <a:defRPr b="0" i="0" strike="noStrike" sz="1200" u="none">
                    <a:solidFill>
                      <a:srgbClr val="0C1A29"/>
                    </a:solidFill>
                    <a:latin typeface="+mn-lt"/>
                  </a:defRPr>
                </a:pPr>
              </a:p>
            </c:txPr>
            <c:showLegendKey val="0"/>
            <c:showVal val="1"/>
            <c:showCatName val="0"/>
            <c:showSerName val="0"/>
            <c:showPercent val="0"/>
            <c:showBubbleSize val="0"/>
            <c:showLeaderLines val="0"/>
          </c:dLbls>
          <c:cat>
            <c:multiLvlStrRef>
              <c:f>Sheet1!$A$2:$A$7</c:f>
              <c:multiLvlStrCache>
                <c:ptCount val="6"/>
                <c:lvl>
                  <c:pt idx="0">
                    <c:v>Floods 2015 (+17.4)</c:v>
                  </c:pt>
                  <c:pt idx="1">
                    <c:v>Vardah 2016 (+2.5)</c:v>
                  </c:pt>
                  <c:pt idx="2">
                    <c:v>Michaung 2023 (+13.4)</c:v>
                  </c:pt>
                  <c:pt idx="3">
                    <c:v>Fengal 2024 (+9.4)</c:v>
                  </c:pt>
                  <c:pt idx="4">
                    <c:v>Cyclone drill (+0.5, a tie)</c:v>
                  </c:pt>
                  <c:pt idx="5">
                    <c:v>Quake drill (+3.3)</c:v>
                  </c:pt>
                </c:lvl>
              </c:multiLvlStrCache>
            </c:multiLvlStrRef>
          </c:cat>
          <c:val>
            <c:numRef>
              <c:f>Sheet1!$B$2:$B$7</c:f>
              <c:numCache>
                <c:formatCode>General</c:formatCode>
                <c:ptCount val="6"/>
                <c:pt idx="0">
                  <c:v>43</c:v>
                </c:pt>
                <c:pt idx="1">
                  <c:v>42.3</c:v>
                </c:pt>
                <c:pt idx="2">
                  <c:v>37.4</c:v>
                </c:pt>
                <c:pt idx="3">
                  <c:v>79.1</c:v>
                </c:pt>
                <c:pt idx="4">
                  <c:v>31.5</c:v>
                </c:pt>
                <c:pt idx="5">
                  <c:v>39.4</c:v>
                </c:pt>
              </c:numCache>
            </c:numRef>
          </c:val>
        </c:ser>
        <c:ser>
          <c:idx val="1"/>
          <c:order val="1"/>
          <c:tx>
            <c:strRef>
              <c:f>Sheet1!$C$1</c:f>
              <c:strCache>
                <c:ptCount val="1"/>
                <c:pt idx="0">
                  <c:v>Best baseline</c:v>
                </c:pt>
              </c:strCache>
            </c:strRef>
          </c:tx>
          <c:spPr>
            <a:solidFill>
              <a:srgbClr val="B9C6D2"/>
            </a:solidFill>
            <a:effectLst/>
          </c:spPr>
          <c:invertIfNegative val="0"/>
          <c:dLbls>
            <c:numFmt formatCode="0.0" sourceLinked="0"/>
            <c:txPr>
              <a:bodyPr/>
              <a:lstStyle/>
              <a:p>
                <a:pPr>
                  <a:defRPr b="0" i="0" strike="noStrike" sz="1200" u="none">
                    <a:solidFill>
                      <a:srgbClr val="0C1A29"/>
                    </a:solidFill>
                    <a:latin typeface="+mn-lt"/>
                  </a:defRPr>
                </a:pPr>
              </a:p>
            </c:txPr>
            <c:showLegendKey val="0"/>
            <c:showVal val="1"/>
            <c:showCatName val="0"/>
            <c:showSerName val="0"/>
            <c:showPercent val="0"/>
            <c:showBubbleSize val="0"/>
            <c:showLeaderLines val="0"/>
          </c:dLbls>
          <c:cat>
            <c:multiLvlStrRef>
              <c:f>Sheet1!$A$2:$A$7</c:f>
              <c:multiLvlStrCache>
                <c:ptCount val="6"/>
                <c:lvl>
                  <c:pt idx="0">
                    <c:v>Floods 2015 (+17.4)</c:v>
                  </c:pt>
                  <c:pt idx="1">
                    <c:v>Vardah 2016 (+2.5)</c:v>
                  </c:pt>
                  <c:pt idx="2">
                    <c:v>Michaung 2023 (+13.4)</c:v>
                  </c:pt>
                  <c:pt idx="3">
                    <c:v>Fengal 2024 (+9.4)</c:v>
                  </c:pt>
                  <c:pt idx="4">
                    <c:v>Cyclone drill (+0.5, a tie)</c:v>
                  </c:pt>
                  <c:pt idx="5">
                    <c:v>Quake drill (+3.3)</c:v>
                  </c:pt>
                </c:lvl>
              </c:multiLvlStrCache>
            </c:multiLvlStrRef>
          </c:cat>
          <c:val>
            <c:numRef>
              <c:f>Sheet1!$C$2:$C$7</c:f>
              <c:numCache>
                <c:formatCode>General</c:formatCode>
                <c:ptCount val="6"/>
                <c:pt idx="0">
                  <c:v>47.4</c:v>
                </c:pt>
                <c:pt idx="1">
                  <c:v>44</c:v>
                </c:pt>
                <c:pt idx="2">
                  <c:v>42.2</c:v>
                </c:pt>
                <c:pt idx="3">
                  <c:v>85</c:v>
                </c:pt>
                <c:pt idx="4">
                  <c:v>35.2</c:v>
                </c:pt>
                <c:pt idx="5">
                  <c:v>41.1</c:v>
                </c:pt>
              </c:numCache>
            </c:numRef>
          </c:val>
        </c:ser>
        <c:ser>
          <c:idx val="2"/>
          <c:order val="2"/>
          <c:tx>
            <c:strRef>
              <c:f>Sheet1!$D$1</c:f>
              <c:strCache>
                <c:ptCount val="1"/>
                <c:pt idx="0">
                  <c:v>Clamp removed</c:v>
                </c:pt>
              </c:strCache>
            </c:strRef>
          </c:tx>
          <c:spPr>
            <a:solidFill>
              <a:srgbClr val="1F6AB8"/>
            </a:solidFill>
            <a:effectLst/>
          </c:spPr>
          <c:invertIfNegative val="0"/>
          <c:dLbls>
            <c:numFmt formatCode="0.0" sourceLinked="0"/>
            <c:txPr>
              <a:bodyPr/>
              <a:lstStyle/>
              <a:p>
                <a:pPr>
                  <a:defRPr b="0" i="0" strike="noStrike" sz="1200" u="none">
                    <a:solidFill>
                      <a:srgbClr val="0C1A29"/>
                    </a:solidFill>
                    <a:latin typeface="+mn-lt"/>
                  </a:defRPr>
                </a:pPr>
              </a:p>
            </c:txPr>
            <c:showLegendKey val="0"/>
            <c:showVal val="1"/>
            <c:showCatName val="0"/>
            <c:showSerName val="0"/>
            <c:showPercent val="0"/>
            <c:showBubbleSize val="0"/>
            <c:showLeaderLines val="0"/>
          </c:dLbls>
          <c:cat>
            <c:multiLvlStrRef>
              <c:f>Sheet1!$A$2:$A$7</c:f>
              <c:multiLvlStrCache>
                <c:ptCount val="6"/>
                <c:lvl>
                  <c:pt idx="0">
                    <c:v>Floods 2015 (+17.4)</c:v>
                  </c:pt>
                  <c:pt idx="1">
                    <c:v>Vardah 2016 (+2.5)</c:v>
                  </c:pt>
                  <c:pt idx="2">
                    <c:v>Michaung 2023 (+13.4)</c:v>
                  </c:pt>
                  <c:pt idx="3">
                    <c:v>Fengal 2024 (+9.4)</c:v>
                  </c:pt>
                  <c:pt idx="4">
                    <c:v>Cyclone drill (+0.5, a tie)</c:v>
                  </c:pt>
                  <c:pt idx="5">
                    <c:v>Quake drill (+3.3)</c:v>
                  </c:pt>
                </c:lvl>
              </c:multiLvlStrCache>
            </c:multiLvlStrRef>
          </c:cat>
          <c:val>
            <c:numRef>
              <c:f>Sheet1!$D$2:$D$7</c:f>
              <c:numCache>
                <c:formatCode>General</c:formatCode>
                <c:ptCount val="6"/>
                <c:pt idx="0">
                  <c:v>64.8</c:v>
                </c:pt>
                <c:pt idx="1">
                  <c:v>46.5</c:v>
                </c:pt>
                <c:pt idx="2">
                  <c:v>55.6</c:v>
                </c:pt>
                <c:pt idx="3">
                  <c:v>94.4</c:v>
                </c:pt>
                <c:pt idx="4">
                  <c:v>35.7</c:v>
                </c:pt>
                <c:pt idx="5">
                  <c:v>44.4</c:v>
                </c:pt>
              </c:numCache>
            </c:numRef>
          </c:val>
        </c:ser>
        <c:ser>
          <c:idx val="3"/>
          <c:order val="3"/>
          <c:tx>
            <c:strRef>
              <c:f>Sheet1!$E$1</c:f>
              <c:strCache>
                <c:ptCount val="1"/>
                <c:pt idx="0">
                  <c:v>Most a one-trip fleet can reach</c:v>
                </c:pt>
              </c:strCache>
            </c:strRef>
          </c:tx>
          <c:spPr>
            <a:solidFill>
              <a:srgbClr val="DDE3E8"/>
            </a:solidFill>
            <a:effectLst/>
          </c:spPr>
          <c:invertIfNegative val="0"/>
          <c:dLbls>
            <c:numFmt formatCode="0.0" sourceLinked="0"/>
            <c:txPr>
              <a:bodyPr/>
              <a:lstStyle/>
              <a:p>
                <a:pPr>
                  <a:defRPr b="0" i="0" strike="noStrike" sz="1200" u="none">
                    <a:solidFill>
                      <a:srgbClr val="0C1A29"/>
                    </a:solidFill>
                    <a:latin typeface="+mn-lt"/>
                  </a:defRPr>
                </a:pPr>
              </a:p>
            </c:txPr>
            <c:showLegendKey val="0"/>
            <c:showVal val="1"/>
            <c:showCatName val="0"/>
            <c:showSerName val="0"/>
            <c:showPercent val="0"/>
            <c:showBubbleSize val="0"/>
            <c:showLeaderLines val="0"/>
          </c:dLbls>
          <c:cat>
            <c:multiLvlStrRef>
              <c:f>Sheet1!$A$2:$A$7</c:f>
              <c:multiLvlStrCache>
                <c:ptCount val="6"/>
                <c:lvl>
                  <c:pt idx="0">
                    <c:v>Floods 2015 (+17.4)</c:v>
                  </c:pt>
                  <c:pt idx="1">
                    <c:v>Vardah 2016 (+2.5)</c:v>
                  </c:pt>
                  <c:pt idx="2">
                    <c:v>Michaung 2023 (+13.4)</c:v>
                  </c:pt>
                  <c:pt idx="3">
                    <c:v>Fengal 2024 (+9.4)</c:v>
                  </c:pt>
                  <c:pt idx="4">
                    <c:v>Cyclone drill (+0.5, a tie)</c:v>
                  </c:pt>
                  <c:pt idx="5">
                    <c:v>Quake drill (+3.3)</c:v>
                  </c:pt>
                </c:lvl>
              </c:multiLvlStrCache>
            </c:multiLvlStrRef>
          </c:cat>
          <c:val>
            <c:numRef>
              <c:f>Sheet1!$E$2:$E$7</c:f>
              <c:numCache>
                <c:formatCode>General</c:formatCode>
                <c:ptCount val="6"/>
                <c:pt idx="0">
                  <c:v>87.2</c:v>
                </c:pt>
                <c:pt idx="1">
                  <c:v>51.3</c:v>
                </c:pt>
                <c:pt idx="2">
                  <c:v>63.8</c:v>
                </c:pt>
                <c:pt idx="3">
                  <c:v>100</c:v>
                </c:pt>
                <c:pt idx="4">
                  <c:v>38</c:v>
                </c:pt>
                <c:pt idx="5">
                  <c:v>47.1</c:v>
                </c:pt>
              </c:numCache>
            </c:numRef>
          </c:val>
        </c:ser>
        <c:dLbls>
          <c:numFmt formatCode="0.0" sourceLinked="0"/>
          <c:txPr>
            <a:bodyPr/>
            <a:lstStyle/>
            <a:p>
              <a:pPr>
                <a:defRPr b="0" i="0" strike="noStrike" sz="1200" u="none">
                  <a:solidFill>
                    <a:srgbClr val="0C1A29"/>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C1A29"/>
                </a:solidFill>
                <a:latin typeface="+mn-lt"/>
              </a:defRPr>
            </a:pPr>
            <a:endParaRPr lang="en-US"/>
          </a:p>
        </c:txPr>
        <c:crossAx val="2094734552"/>
        <c:crosses val="autoZero"/>
        <c:auto val="1"/>
        <c:lblAlgn val="ctr"/>
        <c:noMultiLvlLbl val="1"/>
      </c:catAx>
      <c:valAx>
        <c:axId val="2094734552"/>
        <c:scaling>
          <c:orientation val="minMax"/>
          <c:max val="10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A586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Chennai Relief Control, a web application that plans flood relief for Chennai using classical AI only: fixed hazard rules, A* search and a genetic algorithm. I will show how the system turns live weather readings into a truck dispatch plan. Then I will show what happened when I audited it against simple baselines, because the audit found two real faults and a one-line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a relief officer during a flood. Three questions have to be answered at the same time. Where is the danger worst? Which roads can a truck still use? And which truck should go to which area, in what order? I mapped each question to one classical technique. Rules score the hazard. A star search finds routes on a road network that the flood damages. A genetic algorithm assigns the trucks. There is no machine learning, so every number can be traced to a stated rule. That matters when a duty officer has to trust and explain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on one slide. Open-Meteo gives rain, wind and wave readings, and the US Geological Survey gives earthquakes within 600 kilometres. Both refresh every 15 minutes. The hazard engine turns those readings into a score for each of 19 zones and turns flood hotspots into relief areas with people and supply needs. The road model uses the same hotspots to slow or close roads on an OpenStreetMap graph. The dispatch planner then uses A star travel times to assign trucks. The two blue boxes are the only places that search. Everything else is fixed arithmetic. The web app shows the result on a map and exports run sheets as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every input comes from, and how much of it is real. Weather and earthquakes are live feeds refreshed every 15 minutes. The road network is OpenStreetMap, downloaded once and cached: 8,044 junctions and 10,474 road segments. Zone shapes come from Datameet and Transparent Chennai under an open licence. The bottom two rows are not real data. Depots, stock, the fleet and the list of 57 flood hotspots are representative placeholders that the user can edit on the Resources page, and zone populations are modelled. So every coverage figure in this talk describes the model, not a real fleet. I want to be upfront about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hazard engine is plain arithmetic. For each zone, the flood score multiplies a rain factor, anchored on the India Meteorological Department rain classes of 64.5, 115.6 and 204.5 millimetres, by how susceptible the zone is: how low-lying it is and how many flood hotspots it has. A river index raises it further. Wind and earthquake scores work on the same 0 to 100 scale. A zone's score is its largest hazard plus 30 percent of the second largest. The city meter blends the worst zone with the population-weighted average, and it reads Elevated from 25, High from 50 and Severe from 75. Each score is shown with its drivers, for example rain, low-lying index and number of hotspots, so nothing is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the system I replay six events: the 2015 Chennai floods, Cyclone Vardah in 2016, Cyclone Michaung in 2023, Cyclone Fengal in 2024, and two drills, a severe cyclone and a magnitude 6.6 earthquake. The meter is above 90 for the 2015 floods, Vardah, Michaung and the cyclone drill, and 75.4 for Fengal, which is still Severe. The earthquake drill is High at 63.7 and slows no roads, because earthquake damage to roads is not modelled. The numbers in brackets are Critical areas, and the last column shows how many roads the model slowed and closed. The 2015 floods are the main case from here on: 57 areas, 28 of them Critical, and 87,060 people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 model starts from OpenStreetMap: 8,044 junctions and 10,474 road segments, with 95.9 percent of junctions in the largest connected network. The flood then damages it. Around each hotspot, nearby roads slow down, and a road never keeps less than 18 percent of its normal speed. A minor road closes outright when a severity 3 hotspot is intense enough and the road is close to its centre. Travel time on a road is its length divided by its class speed times the slowdown, with class speeds from 55 down to 15 kilometres an hour. A star searches this graph. Its heuristic is straight-line distance divided by the fastest road speed, which never overestimates, so the route is the cheapest one. I checked this against Dijkstra's algorithm on 1,008 reachable routes and the travel times matched every time. I do not claim A star is faster in my Python code: it expanded about 30 percent fewer junctions but ran 20 to 40 percent slower because of heap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flood model actually matter, or would dry-weather routes do? I took 300 depot-to-area pairs in the 2015 replay and compared the dry-weather route with the flooded one. For 18 percent of pairs, 54 of 300, there is no open road at all. Of the 246 that can still be reached, 15 percent had a dry-weather route that crosses a road now closed, 67 percent need a different best route, and mean travel time is 19.9 percent longer. Michaung and the cyclone drill show the same pattern at lower intensity. So a planner using dry-weather routes would send trucks down roads that are closed, and would give arrival times that are about 20 percent too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dispatcher is a genetic algorithm. A plan maps each truck to an ordered list of stops. Each generation scores every plan, picks parents by tournament of four, joins them with order crossover in 80 percent of pairs, mutates 5 percent of children by moving a stop, giving it to another truck or reversing part of a route, and keeps the two best plans unchanged. Balanced mode uses 100 plans and 250 generations. The fitness has eight terms. Delivery, coverage and unserved areas are the same for every plan, because every stop is in some route, so only five terms separate good plans from bad ones. The cut-off leg term matters most. A leg with no open road adds a 9,999 kilometre stand-in distance, so each cut-off leg costs about 15,500 points. Keep that number in mind for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Dispatch page for the 2015 floods, as the operator sees it. The headline says 46 trucks reach all 57 areas by 9:01 pm. The Critical-areas box says all 28 are reached by 6:47 pm. Now look at the warnings underneath. Perambur is Critical and is listed as cut off, with no open road from nearby depots, yet it is also the first delivery at 5:31 pm. The screen contradicts itself. That made me stop and audit the planner against simple baselines on all six events, using a stricter measure: the share of areas a truck can really reach by an open road. The audit found two separate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fault is in the optimiser itself. Every plan in the 2015 replay has about 35 cut-off legs, and each carries the 9,999 kilometre stand-in, so every plan has a raw fitness of about minus 10 to minus 12 million. Line 318 of the genetic module then applies max of raw fitness and 0.01, which floors every plan to 0.01. Tournaments cannot prefer any plan, the best-so-far never changes, and the algorithm returns its first seed, the severity-ranked round robin. The red line is the shipped planner, flat at 35 cut-off legs for all 250 generations. With the line changed to just use the raw fitness, the blue and dashed lines fall to 22 legs for the 2015 floods and 19 for Michaung. The change is one line and all 14 shipped tests still pass. No test had caught this, because the planner still returned a valid, plausible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fault is in the headline numbers. When a leg has no open road, the plan builder recorded it as 0 kilometres and 0 hours, so the area was counted as reached. The red bars are what the screen reports. The blue bars are what trucks can actually reach by an open road. In the 2015 floods the screen reports 66.5 percent of areas and the road measure gives 43.0 percent, a gap of 23.5 points. Michaung has a gap of 20.7. Fengal, where few roads are closed, has only 4.8. Behind the 2015 gap, 24 of 57 areas are cut off, only 19 of the 28 Critical areas are actually reached, and a quarter of all depot-to-area pairs, 399 of 1,587, have no open route. This is a reporting fault: it makes the plan look better than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effect of the one-line repair on all six events, as the mean of three runs. Grey is the shipped planner, light blue is the better of the two baselines, nearest depot or random search, and dark blue is the planner with the clamp removed. The vertical line marks the most that a one-trip fleet could ever reach, because the fleet carries 166,700 units in total. In the 2015 floods road coverage goes from 43.0 percent to 64.8 percent, 17.4 points above the best baseline. For Michaung it is 55.6 against 42.2, a gain of 13.4. The gain follows the headroom. Where the one-trip limit is close to what the baselines already reach, as in the cyclone drill, there is almost nothing to gain, and that result is a tie because the run ranges overlap. Each cell is only three runs, so I report ranges, not confidence intervals. The repair was measured on a patched copy of the project, not yet in the released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audit, here is what I checked and what held. The 14 shipped tests pass in 1.8 seconds, including after the one-line fix. A star returned exactly the same travel time as Dijkstra on all 1,008 reachable routes I sampled, though I make no speed claim in Python. I swept rain in 16 steps, wind in 19 and quake magnitude in 8, and the city meter never fell as a hazard rose. Zone scoring takes 0.16 milliseconds and the whole state builds in 16. A first plan takes 41 to 51 seconds while the route cache fills, and later plans take 7 to 12 seconds. And the interface showed no horizontal overflow at six widths on four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limits you should know about. The depots, stock, fleet and hotspot list are placeholders and populations are modelled, so the coverage figures describe the model and not a real fleet. The four past events are replays of rain and wind figures, not reconstructions of the true road state, and the closure thresholds are not calibrated against observed closures. Each truck makes one trip. Every result is the mean of three runs, and the repaired planner and random search both optimise the road-feasibility signal that the road measure counts, which favours methods that share the objective. The repair itself was measured on a patched copy and is not yet in the released app. Next steps: apply it, show reported and road coverage side by side, allow several trips per truck, calibrate closures against real flood depths, and compare against hybrid genetic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things. First, every number in this system traces to a rule, so a duty officer can see why a plan was chosen. Second, auditing it against simple baselines on six events found two faults that no test had caught: a fitness clamp that switched off the optimiser, and a coverage headline that counted cut-off areas as reached. Third, the repair is one line, and in the 2015 floods it lifts road coverage from 43.0 to 64.8 percent.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812810" y="6299027"/>
            <a:ext cx="4444898" cy="203180"/>
          </a:xfrm>
          <a:prstGeom prst="rect">
            <a:avLst/>
          </a:prstGeom>
          <a:noFill/>
          <a:ln/>
        </p:spPr>
        <p:txBody>
          <a:bodyPr wrap="square" lIns="0" tIns="0" rIns="0" bIns="0" rtlCol="0" anchor="ctr"/>
          <a:lstStyle/>
          <a:p>
            <a:pPr indent="0" marL="0">
              <a:buNone/>
            </a:pPr>
            <a:r>
              <a:rPr lang="en-US" sz="1200" dirty="0">
                <a:solidFill>
                  <a:srgbClr val="5C6975"/>
                </a:solidFill>
              </a:rPr>
              <a:t>Chennai Relief Control</a:t>
            </a:r>
            <a:endParaRPr lang="en-US" sz="12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812810" y="6299027"/>
            <a:ext cx="4444898" cy="203180"/>
          </a:xfrm>
          <a:prstGeom prst="rect">
            <a:avLst/>
          </a:prstGeom>
          <a:noFill/>
          <a:ln/>
        </p:spPr>
        <p:txBody>
          <a:bodyPr wrap="square" lIns="0" tIns="0" rIns="0" bIns="0" rtlCol="0" anchor="ctr"/>
          <a:lstStyle/>
          <a:p>
            <a:pPr indent="0" marL="0">
              <a:buNone/>
            </a:pPr>
            <a:r>
              <a:rPr lang="en-US" sz="1200" dirty="0">
                <a:solidFill>
                  <a:srgbClr val="8FA3B5"/>
                </a:solidFill>
              </a:rPr>
              <a:t>Chennai Relief Control</a:t>
            </a:r>
            <a:endParaRPr lang="en-US" sz="12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8FA3B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10" y="1270010"/>
            <a:ext cx="5333878" cy="2984419"/>
          </a:xfrm>
          <a:prstGeom prst="rect">
            <a:avLst/>
          </a:prstGeom>
          <a:noFill/>
          <a:ln/>
        </p:spPr>
        <p:txBody>
          <a:bodyPr wrap="square" rtlCol="0"/>
          <a:lstStyle>
            <a:lvl1pPr algn="l" indent="0" marL="0">
              <a:lnSpc>
                <a:spcPct val="90000"/>
              </a:lnSpc>
              <a:buNone/>
              <a:defRPr lang="en-US" sz="7200" b="1" dirty="0">
                <a:solidFill>
                  <a:schemeClr val="bg1"/>
                </a:solidFill>
              </a:defRPr>
            </a:lvl1pPr>
          </a:lstStyle>
          <a:p>
            <a:pPr algn="l" indent="0" marL="0">
              <a:lnSpc>
                <a:spcPct val="90000"/>
              </a:lnSpc>
              <a:buNone/>
            </a:pPr>
            <a:endParaRPr lang="en-US" sz="7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10" y="2730398"/>
            <a:ext cx="5206868" cy="76197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Three-dimensional map of Chennai's 19 zones shaded red for the 2015 flood replay">    </p:cNvPr>
          <p:cNvPicPr>
            <a:picLocks noChangeAspect="1"/>
          </p:cNvPicPr>
          <p:nvPr/>
        </p:nvPicPr>
        <p:blipFill>
          <a:blip r:embed="rId1"/>
          <a:stretch>
            <a:fillRect/>
          </a:stretch>
        </p:blipFill>
        <p:spPr>
          <a:xfrm>
            <a:off x="6603797" y="0"/>
            <a:ext cx="5587898" cy="6857817"/>
          </a:xfrm>
          <a:prstGeom prst="rect">
            <a:avLst/>
          </a:prstGeom>
        </p:spPr>
      </p:pic>
      <p:sp>
        <p:nvSpPr>
          <p:cNvPr id="4" name="Text 0"/>
          <p:cNvSpPr txBox="1"/>
          <p:nvPr/>
        </p:nvSpPr>
        <p:spPr>
          <a:xfrm>
            <a:off x="812810" y="711220"/>
            <a:ext cx="5079858" cy="254020"/>
          </a:xfrm>
          <a:prstGeom prst="rect">
            <a:avLst/>
          </a:prstGeom>
          <a:noFill/>
          <a:ln/>
        </p:spPr>
        <p:txBody>
          <a:bodyPr wrap="square" lIns="0" tIns="0" rIns="0" bIns="0" rtlCol="0" anchor="t"/>
          <a:lstStyle/>
          <a:p>
            <a:pPr algn="l" indent="0" marL="0">
              <a:lnSpc>
                <a:spcPct val="110000"/>
              </a:lnSpc>
              <a:buNone/>
            </a:pPr>
            <a:r>
              <a:rPr lang="en-US" sz="1400" b="1" spc="100" kern="0" dirty="0">
                <a:solidFill>
                  <a:schemeClr val="accent5"/>
                </a:solidFill>
              </a:rPr>
              <a:t>Flood-relief planning for Chennai</a:t>
            </a:r>
            <a:endParaRPr lang="en-US" sz="1400" dirty="0"/>
          </a:p>
        </p:txBody>
      </p:sp>
      <p:sp>
        <p:nvSpPr>
          <p:cNvPr id="5" name="Text 0"/>
          <p:cNvSpPr/>
          <p:nvPr>
            <p:ph idx="100" type="title" hasCustomPrompt="1"/>
          </p:nvPr>
        </p:nvSpPr>
        <p:spPr>
          <a:xfrm>
            <a:off x="812810" y="1270010"/>
            <a:ext cx="5333878" cy="2984419"/>
          </a:xfrm>
          <a:prstGeom prst="rect">
            <a:avLst/>
          </a:prstGeom>
          <a:noFill/>
          <a:ln/>
        </p:spPr>
        <p:txBody>
          <a:bodyPr wrap="square" lIns="0" tIns="0" rIns="0" bIns="0" rtlCol="0" anchor="t"/>
          <a:lstStyle/>
          <a:p>
            <a:pPr algn="l" indent="0" marL="0">
              <a:lnSpc>
                <a:spcPct val="90000"/>
              </a:lnSpc>
              <a:buNone/>
            </a:pPr>
            <a:r>
              <a:rPr lang="en-US" sz="7200" b="1" dirty="0">
                <a:solidFill>
                  <a:schemeClr val="bg1"/>
                </a:solidFill>
              </a:rPr>
              <a:t>Chennai Relief Control</a:t>
            </a:r>
            <a:endParaRPr lang="en-US" sz="7200" dirty="0"/>
          </a:p>
        </p:txBody>
      </p:sp>
      <p:sp>
        <p:nvSpPr>
          <p:cNvPr id="6" name="Text 2"/>
          <p:cNvSpPr txBox="1"/>
          <p:nvPr/>
        </p:nvSpPr>
        <p:spPr>
          <a:xfrm>
            <a:off x="812810" y="4444898"/>
            <a:ext cx="5016398" cy="888980"/>
          </a:xfrm>
          <a:prstGeom prst="rect">
            <a:avLst/>
          </a:prstGeom>
          <a:noFill/>
          <a:ln/>
        </p:spPr>
        <p:txBody>
          <a:bodyPr wrap="square" lIns="0" tIns="0" rIns="0" bIns="0" rtlCol="0" anchor="t"/>
          <a:lstStyle/>
          <a:p>
            <a:pPr algn="l" indent="0" marL="0">
              <a:lnSpc>
                <a:spcPct val="110000"/>
              </a:lnSpc>
              <a:buNone/>
            </a:pPr>
            <a:r>
              <a:rPr lang="en-US" sz="1800" dirty="0">
                <a:solidFill>
                  <a:srgbClr val="B4C3D1"/>
                </a:solidFill>
              </a:rPr>
              <a:t>Hazard scoring, A* routing and a genetic algorithm that decide where relief goes first, and by which road.</a:t>
            </a:r>
            <a:endParaRPr lang="en-US" sz="1800" dirty="0"/>
          </a:p>
        </p:txBody>
      </p:sp>
      <p:sp>
        <p:nvSpPr>
          <p:cNvPr id="7" name="Text 3"/>
          <p:cNvSpPr txBox="1"/>
          <p:nvPr/>
        </p:nvSpPr>
        <p:spPr>
          <a:xfrm>
            <a:off x="812810" y="5435468"/>
            <a:ext cx="5333878" cy="254020"/>
          </a:xfrm>
          <a:prstGeom prst="rect">
            <a:avLst/>
          </a:prstGeom>
          <a:noFill/>
          <a:ln/>
        </p:spPr>
        <p:txBody>
          <a:bodyPr wrap="square" lIns="0" tIns="0" rIns="0" bIns="0" rtlCol="0" anchor="t"/>
          <a:lstStyle/>
          <a:p>
            <a:pPr algn="l" indent="0" marL="0">
              <a:lnSpc>
                <a:spcPct val="110000"/>
              </a:lnSpc>
              <a:buNone/>
            </a:pPr>
            <a:r>
              <a:rPr lang="en-US" sz="1500" b="1" dirty="0">
                <a:solidFill>
                  <a:schemeClr val="bg1"/>
                </a:solidFill>
              </a:rPr>
              <a:t>Jobeson Julius and Pragadeesh S</a:t>
            </a:r>
            <a:endParaRPr lang="en-US" sz="1500" dirty="0"/>
          </a:p>
        </p:txBody>
      </p:sp>
      <p:sp>
        <p:nvSpPr>
          <p:cNvPr id="8" name="Text 4"/>
          <p:cNvSpPr txBox="1"/>
          <p:nvPr/>
        </p:nvSpPr>
        <p:spPr>
          <a:xfrm>
            <a:off x="812810" y="5714817"/>
            <a:ext cx="5333878" cy="444490"/>
          </a:xfrm>
          <a:prstGeom prst="rect">
            <a:avLst/>
          </a:prstGeom>
          <a:noFill/>
          <a:ln/>
        </p:spPr>
        <p:txBody>
          <a:bodyPr wrap="square" lIns="0" tIns="0" rIns="0" bIns="0" rtlCol="0" anchor="t"/>
          <a:lstStyle/>
          <a:p>
            <a:pPr algn="l" indent="0" marL="0">
              <a:lnSpc>
                <a:spcPct val="110000"/>
              </a:lnSpc>
              <a:buNone/>
            </a:pPr>
            <a:r>
              <a:rPr lang="en-US" sz="1300" dirty="0">
                <a:solidFill>
                  <a:srgbClr val="B4C3D1"/>
                </a:solidFill>
              </a:rPr>
              <a:t>Department of Computer Science and Engineering, Rajalakshmi Engineering College, Chennai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Flood relief asks three questions</a:t>
            </a:r>
            <a:endParaRPr lang="en-US" sz="3600" dirty="0"/>
          </a:p>
        </p:txBody>
      </p:sp>
      <p:sp>
        <p:nvSpPr>
          <p:cNvPr id="4" name="Shape 1"/>
          <p:cNvSpPr/>
          <p:nvPr/>
        </p:nvSpPr>
        <p:spPr>
          <a:xfrm>
            <a:off x="812810" y="1619220"/>
            <a:ext cx="3384469" cy="3555919"/>
          </a:xfrm>
          <a:prstGeom prst="roundRect">
            <a:avLst>
              <a:gd name="adj" fmla="val 3753"/>
            </a:avLst>
          </a:prstGeom>
          <a:solidFill>
            <a:schemeClr val="bg2"/>
          </a:solidFill>
          <a:ln w="9525">
            <a:solidFill>
              <a:srgbClr val="D7DDD8"/>
            </a:solidFill>
            <a:prstDash val="solid"/>
          </a:ln>
        </p:spPr>
      </p:sp>
      <p:sp>
        <p:nvSpPr>
          <p:cNvPr id="5" name="Text 2"/>
          <p:cNvSpPr txBox="1"/>
          <p:nvPr/>
        </p:nvSpPr>
        <p:spPr>
          <a:xfrm>
            <a:off x="1066739" y="1873240"/>
            <a:ext cx="2876520" cy="698510"/>
          </a:xfrm>
          <a:prstGeom prst="rect">
            <a:avLst/>
          </a:prstGeom>
          <a:noFill/>
          <a:ln/>
        </p:spPr>
        <p:txBody>
          <a:bodyPr wrap="square" lIns="0" tIns="0" rIns="0" bIns="0" rtlCol="0" anchor="t"/>
          <a:lstStyle/>
          <a:p>
            <a:pPr algn="l" indent="0" marL="0">
              <a:lnSpc>
                <a:spcPct val="100000"/>
              </a:lnSpc>
              <a:buNone/>
            </a:pPr>
            <a:r>
              <a:rPr lang="en-US" sz="2400" b="1" dirty="0">
                <a:solidFill>
                  <a:schemeClr val="tx1"/>
                </a:solidFill>
                <a:latin typeface="+mj-lt" pitchFamily="34" charset="0"/>
                <a:ea typeface="+mj-lt" pitchFamily="34" charset="-122"/>
                <a:cs typeface="+mj-lt" pitchFamily="34" charset="-120"/>
              </a:rPr>
              <a:t>Where is the danger?</a:t>
            </a:r>
            <a:endParaRPr lang="en-US" sz="2400" dirty="0"/>
          </a:p>
        </p:txBody>
      </p:sp>
      <p:sp>
        <p:nvSpPr>
          <p:cNvPr id="6" name="Text 3"/>
          <p:cNvSpPr/>
          <p:nvPr/>
        </p:nvSpPr>
        <p:spPr>
          <a:xfrm>
            <a:off x="1066739" y="2685959"/>
            <a:ext cx="2666939" cy="355610"/>
          </a:xfrm>
          <a:prstGeom prst="roundRect">
            <a:avLst>
              <a:gd name="adj" fmla="val 49987"/>
            </a:avLst>
          </a:prstGeom>
          <a:solidFill>
            <a:srgbClr val="DCE9F7"/>
          </a:solidFill>
          <a:ln/>
        </p:spPr>
        <p:txBody>
          <a:bodyPr wrap="square" lIns="0" tIns="0" rIns="0" bIns="0" rtlCol="0" anchor="ctr"/>
          <a:lstStyle/>
          <a:p>
            <a:pPr algn="ctr" indent="0" marL="0">
              <a:buNone/>
            </a:pPr>
            <a:r>
              <a:rPr lang="en-US" sz="1300" b="1" dirty="0">
                <a:solidFill>
                  <a:srgbClr val="14508F"/>
                </a:solidFill>
              </a:rPr>
              <a:t>Rule-based hazard scoring</a:t>
            </a:r>
            <a:endParaRPr lang="en-US" sz="1300" dirty="0"/>
          </a:p>
        </p:txBody>
      </p:sp>
      <p:sp>
        <p:nvSpPr>
          <p:cNvPr id="7" name="Text 4"/>
          <p:cNvSpPr txBox="1"/>
          <p:nvPr/>
        </p:nvSpPr>
        <p:spPr>
          <a:xfrm>
            <a:off x="1066739" y="3181289"/>
            <a:ext cx="2876520" cy="124459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Rain, wind and earthquake readings become a 0 to 100 score for each of 19 zones.</a:t>
            </a:r>
            <a:endParaRPr lang="en-US" sz="1600" dirty="0"/>
          </a:p>
        </p:txBody>
      </p:sp>
      <p:sp>
        <p:nvSpPr>
          <p:cNvPr id="8" name="Text 5"/>
          <p:cNvSpPr txBox="1"/>
          <p:nvPr/>
        </p:nvSpPr>
        <p:spPr>
          <a:xfrm>
            <a:off x="1066739" y="4514759"/>
            <a:ext cx="2876520" cy="507949"/>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Gives zone scores, and relief areas with people and needs</a:t>
            </a:r>
            <a:endParaRPr lang="en-US" sz="1500" dirty="0"/>
          </a:p>
        </p:txBody>
      </p:sp>
      <p:sp>
        <p:nvSpPr>
          <p:cNvPr id="9" name="Shape 6"/>
          <p:cNvSpPr/>
          <p:nvPr/>
        </p:nvSpPr>
        <p:spPr>
          <a:xfrm>
            <a:off x="4400459" y="1619220"/>
            <a:ext cx="3384469" cy="3555919"/>
          </a:xfrm>
          <a:prstGeom prst="roundRect">
            <a:avLst>
              <a:gd name="adj" fmla="val 3753"/>
            </a:avLst>
          </a:prstGeom>
          <a:solidFill>
            <a:schemeClr val="bg2"/>
          </a:solidFill>
          <a:ln w="9525">
            <a:solidFill>
              <a:srgbClr val="D7DDD8"/>
            </a:solidFill>
            <a:prstDash val="solid"/>
          </a:ln>
        </p:spPr>
      </p:sp>
      <p:sp>
        <p:nvSpPr>
          <p:cNvPr id="10" name="Text 7"/>
          <p:cNvSpPr txBox="1"/>
          <p:nvPr/>
        </p:nvSpPr>
        <p:spPr>
          <a:xfrm>
            <a:off x="4654479" y="1873240"/>
            <a:ext cx="2876520" cy="698510"/>
          </a:xfrm>
          <a:prstGeom prst="rect">
            <a:avLst/>
          </a:prstGeom>
          <a:noFill/>
          <a:ln/>
        </p:spPr>
        <p:txBody>
          <a:bodyPr wrap="square" lIns="0" tIns="0" rIns="0" bIns="0" rtlCol="0" anchor="t"/>
          <a:lstStyle/>
          <a:p>
            <a:pPr algn="l" indent="0" marL="0">
              <a:lnSpc>
                <a:spcPct val="100000"/>
              </a:lnSpc>
              <a:buNone/>
            </a:pPr>
            <a:r>
              <a:rPr lang="en-US" sz="2400" b="1" dirty="0">
                <a:solidFill>
                  <a:schemeClr val="tx1"/>
                </a:solidFill>
                <a:latin typeface="+mj-lt" pitchFamily="34" charset="0"/>
                <a:ea typeface="+mj-lt" pitchFamily="34" charset="-122"/>
                <a:cs typeface="+mj-lt" pitchFamily="34" charset="-120"/>
              </a:rPr>
              <a:t>Which roads still work?</a:t>
            </a:r>
            <a:endParaRPr lang="en-US" sz="2400" dirty="0"/>
          </a:p>
        </p:txBody>
      </p:sp>
      <p:sp>
        <p:nvSpPr>
          <p:cNvPr id="11" name="Text 8"/>
          <p:cNvSpPr/>
          <p:nvPr/>
        </p:nvSpPr>
        <p:spPr>
          <a:xfrm>
            <a:off x="4654479" y="2685959"/>
            <a:ext cx="2666939" cy="355610"/>
          </a:xfrm>
          <a:prstGeom prst="roundRect">
            <a:avLst>
              <a:gd name="adj" fmla="val 49987"/>
            </a:avLst>
          </a:prstGeom>
          <a:solidFill>
            <a:srgbClr val="DCE9F7"/>
          </a:solidFill>
          <a:ln/>
        </p:spPr>
        <p:txBody>
          <a:bodyPr wrap="square" lIns="0" tIns="0" rIns="0" bIns="0" rtlCol="0" anchor="ctr"/>
          <a:lstStyle/>
          <a:p>
            <a:pPr algn="ctr" indent="0" marL="0">
              <a:buNone/>
            </a:pPr>
            <a:r>
              <a:rPr lang="en-US" sz="1300" b="1" dirty="0">
                <a:solidFill>
                  <a:srgbClr val="14508F"/>
                </a:solidFill>
              </a:rPr>
              <a:t>A* on OpenStreetMap roads</a:t>
            </a:r>
            <a:endParaRPr lang="en-US" sz="1300" dirty="0"/>
          </a:p>
        </p:txBody>
      </p:sp>
      <p:sp>
        <p:nvSpPr>
          <p:cNvPr id="12" name="Text 9"/>
          <p:cNvSpPr txBox="1"/>
          <p:nvPr/>
        </p:nvSpPr>
        <p:spPr>
          <a:xfrm>
            <a:off x="4654479" y="3181289"/>
            <a:ext cx="2876520" cy="124459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Flooding slows or closes roads, and the search finds the fastest open route between two points.</a:t>
            </a:r>
            <a:endParaRPr lang="en-US" sz="1600" dirty="0"/>
          </a:p>
        </p:txBody>
      </p:sp>
      <p:sp>
        <p:nvSpPr>
          <p:cNvPr id="13" name="Text 10"/>
          <p:cNvSpPr txBox="1"/>
          <p:nvPr/>
        </p:nvSpPr>
        <p:spPr>
          <a:xfrm>
            <a:off x="4654479" y="4514759"/>
            <a:ext cx="2876520" cy="507949"/>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Gives travel times that change with the flood</a:t>
            </a:r>
            <a:endParaRPr lang="en-US" sz="1500" dirty="0"/>
          </a:p>
        </p:txBody>
      </p:sp>
      <p:sp>
        <p:nvSpPr>
          <p:cNvPr id="14" name="Shape 11"/>
          <p:cNvSpPr/>
          <p:nvPr/>
        </p:nvSpPr>
        <p:spPr>
          <a:xfrm>
            <a:off x="7988107" y="1619220"/>
            <a:ext cx="3384469" cy="3555919"/>
          </a:xfrm>
          <a:prstGeom prst="roundRect">
            <a:avLst>
              <a:gd name="adj" fmla="val 3753"/>
            </a:avLst>
          </a:prstGeom>
          <a:solidFill>
            <a:schemeClr val="bg2"/>
          </a:solidFill>
          <a:ln w="9525">
            <a:solidFill>
              <a:srgbClr val="D7DDD8"/>
            </a:solidFill>
            <a:prstDash val="solid"/>
          </a:ln>
        </p:spPr>
      </p:sp>
      <p:sp>
        <p:nvSpPr>
          <p:cNvPr id="15" name="Text 12"/>
          <p:cNvSpPr txBox="1"/>
          <p:nvPr/>
        </p:nvSpPr>
        <p:spPr>
          <a:xfrm>
            <a:off x="8242127" y="1873240"/>
            <a:ext cx="2876520" cy="698510"/>
          </a:xfrm>
          <a:prstGeom prst="rect">
            <a:avLst/>
          </a:prstGeom>
          <a:noFill/>
          <a:ln/>
        </p:spPr>
        <p:txBody>
          <a:bodyPr wrap="square" lIns="0" tIns="0" rIns="0" bIns="0" rtlCol="0" anchor="t"/>
          <a:lstStyle/>
          <a:p>
            <a:pPr algn="l" indent="0" marL="0">
              <a:lnSpc>
                <a:spcPct val="100000"/>
              </a:lnSpc>
              <a:buNone/>
            </a:pPr>
            <a:r>
              <a:rPr lang="en-US" sz="2400" b="1" dirty="0">
                <a:solidFill>
                  <a:schemeClr val="tx1"/>
                </a:solidFill>
                <a:latin typeface="+mj-lt" pitchFamily="34" charset="0"/>
                <a:ea typeface="+mj-lt" pitchFamily="34" charset="-122"/>
                <a:cs typeface="+mj-lt" pitchFamily="34" charset="-120"/>
              </a:rPr>
              <a:t>Which truck goes where?</a:t>
            </a:r>
            <a:endParaRPr lang="en-US" sz="2400" dirty="0"/>
          </a:p>
        </p:txBody>
      </p:sp>
      <p:sp>
        <p:nvSpPr>
          <p:cNvPr id="16" name="Text 13"/>
          <p:cNvSpPr/>
          <p:nvPr/>
        </p:nvSpPr>
        <p:spPr>
          <a:xfrm>
            <a:off x="8242127" y="2685959"/>
            <a:ext cx="1904970" cy="355610"/>
          </a:xfrm>
          <a:prstGeom prst="roundRect">
            <a:avLst>
              <a:gd name="adj" fmla="val 49987"/>
            </a:avLst>
          </a:prstGeom>
          <a:solidFill>
            <a:srgbClr val="DCE9F7"/>
          </a:solidFill>
          <a:ln/>
        </p:spPr>
        <p:txBody>
          <a:bodyPr wrap="square" lIns="0" tIns="0" rIns="0" bIns="0" rtlCol="0" anchor="ctr"/>
          <a:lstStyle/>
          <a:p>
            <a:pPr algn="ctr" indent="0" marL="0">
              <a:buNone/>
            </a:pPr>
            <a:r>
              <a:rPr lang="en-US" sz="1300" b="1" dirty="0">
                <a:solidFill>
                  <a:srgbClr val="14508F"/>
                </a:solidFill>
              </a:rPr>
              <a:t>Genetic algorithm</a:t>
            </a:r>
            <a:endParaRPr lang="en-US" sz="1300" dirty="0"/>
          </a:p>
        </p:txBody>
      </p:sp>
      <p:sp>
        <p:nvSpPr>
          <p:cNvPr id="17" name="Text 14"/>
          <p:cNvSpPr txBox="1"/>
          <p:nvPr/>
        </p:nvSpPr>
        <p:spPr>
          <a:xfrm>
            <a:off x="8242127" y="3181289"/>
            <a:ext cx="2876520" cy="124459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46 trucks from 23 depots are assigned to the relief areas, and each truck's stops are put in order.</a:t>
            </a:r>
            <a:endParaRPr lang="en-US" sz="1600" dirty="0"/>
          </a:p>
        </p:txBody>
      </p:sp>
      <p:sp>
        <p:nvSpPr>
          <p:cNvPr id="18" name="Text 15"/>
          <p:cNvSpPr txBox="1"/>
          <p:nvPr/>
        </p:nvSpPr>
        <p:spPr>
          <a:xfrm>
            <a:off x="8242127" y="4514759"/>
            <a:ext cx="2876520" cy="507949"/>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Gives truck routes with clock-time arrivals</a:t>
            </a:r>
            <a:endParaRPr lang="en-US" sz="1500" dirty="0"/>
          </a:p>
        </p:txBody>
      </p:sp>
      <p:sp>
        <p:nvSpPr>
          <p:cNvPr id="19" name="Text 16"/>
          <p:cNvSpPr txBox="1"/>
          <p:nvPr/>
        </p:nvSpPr>
        <p:spPr>
          <a:xfrm>
            <a:off x="812810" y="5397337"/>
            <a:ext cx="10566166" cy="279349"/>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Built on the December 2015 floods and five other events, with no machine learning.</a:t>
            </a:r>
            <a:endParaRPr lang="en-US" sz="16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From weather feed to truck route</a:t>
            </a:r>
            <a:endParaRPr lang="en-US" sz="3600" dirty="0"/>
          </a:p>
        </p:txBody>
      </p:sp>
      <p:sp>
        <p:nvSpPr>
          <p:cNvPr id="4" name="Shape 1"/>
          <p:cNvSpPr/>
          <p:nvPr/>
        </p:nvSpPr>
        <p:spPr>
          <a:xfrm>
            <a:off x="812810" y="1619220"/>
            <a:ext cx="2298619" cy="2984419"/>
          </a:xfrm>
          <a:prstGeom prst="roundRect">
            <a:avLst>
              <a:gd name="adj" fmla="val 5525"/>
            </a:avLst>
          </a:prstGeom>
          <a:solidFill>
            <a:schemeClr val="bg2"/>
          </a:solidFill>
          <a:ln w="9525">
            <a:solidFill>
              <a:srgbClr val="D7DDD8"/>
            </a:solidFill>
            <a:prstDash val="solid"/>
          </a:ln>
        </p:spPr>
      </p:sp>
      <p:sp>
        <p:nvSpPr>
          <p:cNvPr id="5" name="Text 2"/>
          <p:cNvSpPr txBox="1"/>
          <p:nvPr/>
        </p:nvSpPr>
        <p:spPr>
          <a:xfrm>
            <a:off x="1015990" y="1822399"/>
            <a:ext cx="1943009" cy="317480"/>
          </a:xfrm>
          <a:prstGeom prst="rect">
            <a:avLst/>
          </a:prstGeom>
          <a:noFill/>
          <a:ln/>
        </p:spPr>
        <p:txBody>
          <a:bodyPr wrap="square" lIns="0" tIns="0" rIns="0" bIns="0" rtlCol="0" anchor="t"/>
          <a:lstStyle/>
          <a:p>
            <a:pPr algn="l" indent="0" marL="0">
              <a:lnSpc>
                <a:spcPct val="110000"/>
              </a:lnSpc>
              <a:buNone/>
            </a:pPr>
            <a:r>
              <a:rPr lang="en-US" sz="1600" b="1" dirty="0">
                <a:solidFill>
                  <a:schemeClr val="tx1"/>
                </a:solidFill>
                <a:latin typeface="+mj-lt" pitchFamily="34" charset="0"/>
                <a:ea typeface="+mj-lt" pitchFamily="34" charset="-122"/>
                <a:cs typeface="+mj-lt" pitchFamily="34" charset="-120"/>
              </a:rPr>
              <a:t>Data in</a:t>
            </a:r>
            <a:endParaRPr lang="en-US" sz="1600" dirty="0"/>
          </a:p>
        </p:txBody>
      </p:sp>
      <p:sp>
        <p:nvSpPr>
          <p:cNvPr id="6" name="Text 3"/>
          <p:cNvSpPr txBox="1"/>
          <p:nvPr/>
        </p:nvSpPr>
        <p:spPr>
          <a:xfrm>
            <a:off x="1015990" y="2279599"/>
            <a:ext cx="1892259" cy="24131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Open-Meteo</a:t>
            </a:r>
            <a:endParaRPr lang="en-US" sz="1400" dirty="0"/>
          </a:p>
        </p:txBody>
      </p:sp>
      <p:sp>
        <p:nvSpPr>
          <p:cNvPr id="7" name="Text 4"/>
          <p:cNvSpPr txBox="1"/>
          <p:nvPr/>
        </p:nvSpPr>
        <p:spPr>
          <a:xfrm>
            <a:off x="1015990" y="2520909"/>
            <a:ext cx="1892259" cy="22860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rain, wind and waves</a:t>
            </a:r>
            <a:endParaRPr lang="en-US" sz="1400" dirty="0"/>
          </a:p>
        </p:txBody>
      </p:sp>
      <p:sp>
        <p:nvSpPr>
          <p:cNvPr id="8" name="Text 5"/>
          <p:cNvSpPr txBox="1"/>
          <p:nvPr/>
        </p:nvSpPr>
        <p:spPr>
          <a:xfrm>
            <a:off x="1015990" y="2838389"/>
            <a:ext cx="1892259" cy="24131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USGS</a:t>
            </a:r>
            <a:endParaRPr lang="en-US" sz="1400" dirty="0"/>
          </a:p>
        </p:txBody>
      </p:sp>
      <p:sp>
        <p:nvSpPr>
          <p:cNvPr id="9" name="Text 6"/>
          <p:cNvSpPr txBox="1"/>
          <p:nvPr/>
        </p:nvSpPr>
        <p:spPr>
          <a:xfrm>
            <a:off x="1015990" y="3079699"/>
            <a:ext cx="1892259" cy="22860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quakes within 600 km</a:t>
            </a:r>
            <a:endParaRPr lang="en-US" sz="1400" dirty="0"/>
          </a:p>
        </p:txBody>
      </p:sp>
      <p:sp>
        <p:nvSpPr>
          <p:cNvPr id="10" name="Text 7"/>
          <p:cNvSpPr txBox="1"/>
          <p:nvPr/>
        </p:nvSpPr>
        <p:spPr>
          <a:xfrm>
            <a:off x="1015990" y="3397179"/>
            <a:ext cx="1892259" cy="24131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OpenStreetMap</a:t>
            </a:r>
            <a:endParaRPr lang="en-US" sz="1400" dirty="0"/>
          </a:p>
        </p:txBody>
      </p:sp>
      <p:sp>
        <p:nvSpPr>
          <p:cNvPr id="11" name="Text 8"/>
          <p:cNvSpPr txBox="1"/>
          <p:nvPr/>
        </p:nvSpPr>
        <p:spPr>
          <a:xfrm>
            <a:off x="1015990" y="3638489"/>
            <a:ext cx="1892259" cy="22860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road network, cached</a:t>
            </a:r>
            <a:endParaRPr lang="en-US" sz="1400" dirty="0"/>
          </a:p>
        </p:txBody>
      </p:sp>
      <p:sp>
        <p:nvSpPr>
          <p:cNvPr id="12" name="Text 9"/>
          <p:cNvSpPr txBox="1"/>
          <p:nvPr/>
        </p:nvSpPr>
        <p:spPr>
          <a:xfrm>
            <a:off x="1015990" y="3955969"/>
            <a:ext cx="1892259" cy="24131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Depots and fleet</a:t>
            </a:r>
            <a:endParaRPr lang="en-US" sz="1400" dirty="0"/>
          </a:p>
        </p:txBody>
      </p:sp>
      <p:sp>
        <p:nvSpPr>
          <p:cNvPr id="13" name="Text 10"/>
          <p:cNvSpPr txBox="1"/>
          <p:nvPr/>
        </p:nvSpPr>
        <p:spPr>
          <a:xfrm>
            <a:off x="1015990" y="4197279"/>
            <a:ext cx="1892259" cy="22860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placeholder, editable</a:t>
            </a:r>
            <a:endParaRPr lang="en-US" sz="1400" dirty="0"/>
          </a:p>
        </p:txBody>
      </p:sp>
      <p:sp>
        <p:nvSpPr>
          <p:cNvPr id="14" name="Shape 11"/>
          <p:cNvSpPr/>
          <p:nvPr/>
        </p:nvSpPr>
        <p:spPr>
          <a:xfrm>
            <a:off x="3568629" y="1619220"/>
            <a:ext cx="2298619" cy="2984419"/>
          </a:xfrm>
          <a:prstGeom prst="roundRect">
            <a:avLst>
              <a:gd name="adj" fmla="val 5525"/>
            </a:avLst>
          </a:prstGeom>
          <a:solidFill>
            <a:schemeClr val="bg2"/>
          </a:solidFill>
          <a:ln w="9525">
            <a:solidFill>
              <a:srgbClr val="D7DDD8"/>
            </a:solidFill>
            <a:prstDash val="solid"/>
          </a:ln>
        </p:spPr>
      </p:sp>
      <p:sp>
        <p:nvSpPr>
          <p:cNvPr id="15" name="Text 12"/>
          <p:cNvSpPr txBox="1"/>
          <p:nvPr/>
        </p:nvSpPr>
        <p:spPr>
          <a:xfrm>
            <a:off x="3771809" y="1822399"/>
            <a:ext cx="1943009" cy="317480"/>
          </a:xfrm>
          <a:prstGeom prst="rect">
            <a:avLst/>
          </a:prstGeom>
          <a:noFill/>
          <a:ln/>
        </p:spPr>
        <p:txBody>
          <a:bodyPr wrap="square" lIns="0" tIns="0" rIns="0" bIns="0" rtlCol="0" anchor="t"/>
          <a:lstStyle/>
          <a:p>
            <a:pPr algn="l" indent="0" marL="0">
              <a:lnSpc>
                <a:spcPct val="110000"/>
              </a:lnSpc>
              <a:buNone/>
            </a:pPr>
            <a:r>
              <a:rPr lang="en-US" sz="1600" b="1" dirty="0">
                <a:solidFill>
                  <a:schemeClr val="tx1"/>
                </a:solidFill>
                <a:latin typeface="+mj-lt" pitchFamily="34" charset="0"/>
                <a:ea typeface="+mj-lt" pitchFamily="34" charset="-122"/>
                <a:cs typeface="+mj-lt" pitchFamily="34" charset="-120"/>
              </a:rPr>
              <a:t>Hazard engine</a:t>
            </a:r>
            <a:endParaRPr lang="en-US" sz="1600" dirty="0"/>
          </a:p>
        </p:txBody>
      </p:sp>
      <p:sp>
        <p:nvSpPr>
          <p:cNvPr id="16" name="Text 13"/>
          <p:cNvSpPr txBox="1"/>
          <p:nvPr/>
        </p:nvSpPr>
        <p:spPr>
          <a:xfrm>
            <a:off x="3771809" y="2254179"/>
            <a:ext cx="1892259" cy="1143000"/>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Rain, wind and shaking become a score from 0 to 100 for each of 19 zones.</a:t>
            </a:r>
            <a:endParaRPr lang="en-US" sz="1500" dirty="0"/>
          </a:p>
        </p:txBody>
      </p:sp>
      <p:sp>
        <p:nvSpPr>
          <p:cNvPr id="17" name="Text 14"/>
          <p:cNvSpPr txBox="1"/>
          <p:nvPr/>
        </p:nvSpPr>
        <p:spPr>
          <a:xfrm>
            <a:off x="3771809" y="3473348"/>
            <a:ext cx="1892259" cy="1015990"/>
          </a:xfrm>
          <a:prstGeom prst="rect">
            <a:avLst/>
          </a:prstGeom>
          <a:noFill/>
          <a:ln/>
        </p:spPr>
        <p:txBody>
          <a:bodyPr wrap="square" lIns="0" tIns="0" rIns="0" bIns="0" rtlCol="0" anchor="t"/>
          <a:lstStyle/>
          <a:p>
            <a:pPr algn="l" indent="0" marL="0">
              <a:lnSpc>
                <a:spcPct val="110000"/>
              </a:lnSpc>
              <a:buNone/>
            </a:pPr>
            <a:r>
              <a:rPr lang="en-US" sz="1500" dirty="0">
                <a:solidFill>
                  <a:srgbClr val="4A5865"/>
                </a:solidFill>
              </a:rPr>
              <a:t>Flood hotspots become relief areas with people and supply needs.</a:t>
            </a:r>
            <a:endParaRPr lang="en-US" sz="1500" dirty="0"/>
          </a:p>
        </p:txBody>
      </p:sp>
      <p:sp>
        <p:nvSpPr>
          <p:cNvPr id="18" name="Shape 15"/>
          <p:cNvSpPr/>
          <p:nvPr/>
        </p:nvSpPr>
        <p:spPr>
          <a:xfrm>
            <a:off x="6324448" y="1619220"/>
            <a:ext cx="2298619" cy="2984419"/>
          </a:xfrm>
          <a:prstGeom prst="roundRect">
            <a:avLst>
              <a:gd name="adj" fmla="val 5525"/>
            </a:avLst>
          </a:prstGeom>
          <a:solidFill>
            <a:srgbClr val="E6EFF9"/>
          </a:solidFill>
          <a:ln w="28575">
            <a:solidFill>
              <a:schemeClr val="accent1"/>
            </a:solidFill>
            <a:prstDash val="solid"/>
          </a:ln>
        </p:spPr>
      </p:sp>
      <p:sp>
        <p:nvSpPr>
          <p:cNvPr id="19" name="Text 16"/>
          <p:cNvSpPr txBox="1"/>
          <p:nvPr/>
        </p:nvSpPr>
        <p:spPr>
          <a:xfrm>
            <a:off x="6527627" y="1822399"/>
            <a:ext cx="1943009" cy="317480"/>
          </a:xfrm>
          <a:prstGeom prst="rect">
            <a:avLst/>
          </a:prstGeom>
          <a:noFill/>
          <a:ln/>
        </p:spPr>
        <p:txBody>
          <a:bodyPr wrap="square" lIns="0" tIns="0" rIns="0" bIns="0" rtlCol="0" anchor="t"/>
          <a:lstStyle/>
          <a:p>
            <a:pPr algn="l" indent="0" marL="0">
              <a:lnSpc>
                <a:spcPct val="110000"/>
              </a:lnSpc>
              <a:buNone/>
            </a:pPr>
            <a:r>
              <a:rPr lang="en-US" sz="1600" b="1" dirty="0">
                <a:solidFill>
                  <a:schemeClr val="tx1"/>
                </a:solidFill>
                <a:latin typeface="+mj-lt" pitchFamily="34" charset="0"/>
                <a:ea typeface="+mj-lt" pitchFamily="34" charset="-122"/>
                <a:cs typeface="+mj-lt" pitchFamily="34" charset="-120"/>
              </a:rPr>
              <a:t>Road model</a:t>
            </a:r>
            <a:endParaRPr lang="en-US" sz="1600" dirty="0"/>
          </a:p>
        </p:txBody>
      </p:sp>
      <p:sp>
        <p:nvSpPr>
          <p:cNvPr id="20" name="Text 17"/>
          <p:cNvSpPr txBox="1"/>
          <p:nvPr/>
        </p:nvSpPr>
        <p:spPr>
          <a:xfrm>
            <a:off x="6527627" y="2254179"/>
            <a:ext cx="1892259" cy="1143000"/>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Hotspot intensity slows or closes nearby roads.</a:t>
            </a:r>
            <a:endParaRPr lang="en-US" sz="1500" dirty="0"/>
          </a:p>
        </p:txBody>
      </p:sp>
      <p:sp>
        <p:nvSpPr>
          <p:cNvPr id="21" name="Text 18"/>
          <p:cNvSpPr txBox="1"/>
          <p:nvPr/>
        </p:nvSpPr>
        <p:spPr>
          <a:xfrm>
            <a:off x="6527627" y="3473348"/>
            <a:ext cx="1892259" cy="1015990"/>
          </a:xfrm>
          <a:prstGeom prst="rect">
            <a:avLst/>
          </a:prstGeom>
          <a:noFill/>
          <a:ln/>
        </p:spPr>
        <p:txBody>
          <a:bodyPr wrap="square" lIns="0" tIns="0" rIns="0" bIns="0" rtlCol="0" anchor="t"/>
          <a:lstStyle/>
          <a:p>
            <a:pPr algn="l" indent="0" marL="0">
              <a:lnSpc>
                <a:spcPct val="110000"/>
              </a:lnSpc>
              <a:buNone/>
            </a:pPr>
            <a:r>
              <a:rPr lang="en-US" sz="1500" dirty="0">
                <a:solidFill>
                  <a:srgbClr val="4A5865"/>
                </a:solidFill>
              </a:rPr>
              <a:t>A* finds the fastest open route, and areas with none are flagged as cut off.</a:t>
            </a:r>
            <a:endParaRPr lang="en-US" sz="1500" dirty="0"/>
          </a:p>
        </p:txBody>
      </p:sp>
      <p:sp>
        <p:nvSpPr>
          <p:cNvPr id="22" name="Shape 19"/>
          <p:cNvSpPr/>
          <p:nvPr/>
        </p:nvSpPr>
        <p:spPr>
          <a:xfrm>
            <a:off x="9080266" y="1619220"/>
            <a:ext cx="2298619" cy="2984419"/>
          </a:xfrm>
          <a:prstGeom prst="roundRect">
            <a:avLst>
              <a:gd name="adj" fmla="val 5525"/>
            </a:avLst>
          </a:prstGeom>
          <a:solidFill>
            <a:srgbClr val="E6EFF9"/>
          </a:solidFill>
          <a:ln w="28575">
            <a:solidFill>
              <a:schemeClr val="accent1"/>
            </a:solidFill>
            <a:prstDash val="solid"/>
          </a:ln>
        </p:spPr>
      </p:sp>
      <p:sp>
        <p:nvSpPr>
          <p:cNvPr id="23" name="Text 20"/>
          <p:cNvSpPr txBox="1"/>
          <p:nvPr/>
        </p:nvSpPr>
        <p:spPr>
          <a:xfrm>
            <a:off x="9283446" y="1822399"/>
            <a:ext cx="1943009" cy="317480"/>
          </a:xfrm>
          <a:prstGeom prst="rect">
            <a:avLst/>
          </a:prstGeom>
          <a:noFill/>
          <a:ln/>
        </p:spPr>
        <p:txBody>
          <a:bodyPr wrap="square" lIns="0" tIns="0" rIns="0" bIns="0" rtlCol="0" anchor="t"/>
          <a:lstStyle/>
          <a:p>
            <a:pPr algn="l" indent="0" marL="0">
              <a:lnSpc>
                <a:spcPct val="110000"/>
              </a:lnSpc>
              <a:buNone/>
            </a:pPr>
            <a:r>
              <a:rPr lang="en-US" sz="1600" b="1" dirty="0">
                <a:solidFill>
                  <a:schemeClr val="tx1"/>
                </a:solidFill>
                <a:latin typeface="+mj-lt" pitchFamily="34" charset="0"/>
                <a:ea typeface="+mj-lt" pitchFamily="34" charset="-122"/>
                <a:cs typeface="+mj-lt" pitchFamily="34" charset="-120"/>
              </a:rPr>
              <a:t>Dispatch planner</a:t>
            </a:r>
            <a:endParaRPr lang="en-US" sz="1600" dirty="0"/>
          </a:p>
        </p:txBody>
      </p:sp>
      <p:sp>
        <p:nvSpPr>
          <p:cNvPr id="24" name="Text 21"/>
          <p:cNvSpPr txBox="1"/>
          <p:nvPr/>
        </p:nvSpPr>
        <p:spPr>
          <a:xfrm>
            <a:off x="9283446" y="2254179"/>
            <a:ext cx="1892259" cy="1143000"/>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A genetic algorithm assigns areas to trucks and orders each run.</a:t>
            </a:r>
            <a:endParaRPr lang="en-US" sz="1500" dirty="0"/>
          </a:p>
        </p:txBody>
      </p:sp>
      <p:sp>
        <p:nvSpPr>
          <p:cNvPr id="25" name="Text 22"/>
          <p:cNvSpPr txBox="1"/>
          <p:nvPr/>
        </p:nvSpPr>
        <p:spPr>
          <a:xfrm>
            <a:off x="9283446" y="3473348"/>
            <a:ext cx="1892259" cy="1015990"/>
          </a:xfrm>
          <a:prstGeom prst="rect">
            <a:avLst/>
          </a:prstGeom>
          <a:noFill/>
          <a:ln/>
        </p:spPr>
        <p:txBody>
          <a:bodyPr wrap="square" lIns="0" tIns="0" rIns="0" bIns="0" rtlCol="0" anchor="t"/>
          <a:lstStyle/>
          <a:p>
            <a:pPr algn="l" indent="0" marL="0">
              <a:lnSpc>
                <a:spcPct val="110000"/>
              </a:lnSpc>
              <a:buNone/>
            </a:pPr>
            <a:r>
              <a:rPr lang="en-US" sz="1500" dirty="0">
                <a:solidFill>
                  <a:srgbClr val="4A5865"/>
                </a:solidFill>
              </a:rPr>
              <a:t>Arrival times are clock times in IST.</a:t>
            </a:r>
            <a:endParaRPr lang="en-US" sz="1500" dirty="0"/>
          </a:p>
        </p:txBody>
      </p:sp>
      <p:sp>
        <p:nvSpPr>
          <p:cNvPr id="26" name="Shape 23"/>
          <p:cNvSpPr/>
          <p:nvPr/>
        </p:nvSpPr>
        <p:spPr>
          <a:xfrm>
            <a:off x="3213019" y="3022549"/>
            <a:ext cx="254020" cy="177759"/>
          </a:xfrm>
          <a:prstGeom prst="rightArrow">
            <a:avLst/>
          </a:prstGeom>
          <a:solidFill>
            <a:srgbClr val="9AA7B2"/>
          </a:solidFill>
          <a:ln/>
        </p:spPr>
      </p:sp>
      <p:sp>
        <p:nvSpPr>
          <p:cNvPr id="27" name="Shape 24"/>
          <p:cNvSpPr/>
          <p:nvPr/>
        </p:nvSpPr>
        <p:spPr>
          <a:xfrm>
            <a:off x="5968837" y="3022549"/>
            <a:ext cx="254020" cy="177759"/>
          </a:xfrm>
          <a:prstGeom prst="rightArrow">
            <a:avLst/>
          </a:prstGeom>
          <a:solidFill>
            <a:srgbClr val="9AA7B2"/>
          </a:solidFill>
          <a:ln/>
        </p:spPr>
      </p:sp>
      <p:sp>
        <p:nvSpPr>
          <p:cNvPr id="28" name="Shape 25"/>
          <p:cNvSpPr/>
          <p:nvPr/>
        </p:nvSpPr>
        <p:spPr>
          <a:xfrm>
            <a:off x="8724656" y="3022549"/>
            <a:ext cx="254020" cy="177759"/>
          </a:xfrm>
          <a:prstGeom prst="rightArrow">
            <a:avLst/>
          </a:prstGeom>
          <a:solidFill>
            <a:srgbClr val="9AA7B2"/>
          </a:solidFill>
          <a:ln/>
        </p:spPr>
      </p:sp>
      <p:sp>
        <p:nvSpPr>
          <p:cNvPr id="29" name="Shape 26"/>
          <p:cNvSpPr/>
          <p:nvPr/>
        </p:nvSpPr>
        <p:spPr>
          <a:xfrm>
            <a:off x="812810" y="4756069"/>
            <a:ext cx="10566166" cy="584210"/>
          </a:xfrm>
          <a:prstGeom prst="roundRect">
            <a:avLst>
              <a:gd name="adj" fmla="val 17389"/>
            </a:avLst>
          </a:prstGeom>
          <a:solidFill>
            <a:schemeClr val="tx1"/>
          </a:solidFill>
          <a:ln/>
        </p:spPr>
      </p:sp>
      <p:sp>
        <p:nvSpPr>
          <p:cNvPr id="30" name="Text 27"/>
          <p:cNvSpPr txBox="1"/>
          <p:nvPr/>
        </p:nvSpPr>
        <p:spPr>
          <a:xfrm>
            <a:off x="1015990" y="4756069"/>
            <a:ext cx="1270010" cy="584210"/>
          </a:xfrm>
          <a:prstGeom prst="rect">
            <a:avLst/>
          </a:prstGeom>
          <a:noFill/>
          <a:ln/>
        </p:spPr>
        <p:txBody>
          <a:bodyPr wrap="square" lIns="0" tIns="0" rIns="0" bIns="0" rtlCol="0" anchor="ctr"/>
          <a:lstStyle/>
          <a:p>
            <a:pPr algn="l" indent="0" marL="0">
              <a:lnSpc>
                <a:spcPct val="110000"/>
              </a:lnSpc>
              <a:buNone/>
            </a:pPr>
            <a:r>
              <a:rPr lang="en-US" sz="1600" b="1" dirty="0">
                <a:solidFill>
                  <a:schemeClr val="bg1"/>
                </a:solidFill>
                <a:latin typeface="+mj-lt" pitchFamily="34" charset="0"/>
                <a:ea typeface="+mj-lt" pitchFamily="34" charset="-122"/>
                <a:cs typeface="+mj-lt" pitchFamily="34" charset="-120"/>
              </a:rPr>
              <a:t>Web app</a:t>
            </a:r>
            <a:endParaRPr lang="en-US" sz="1600" dirty="0"/>
          </a:p>
        </p:txBody>
      </p:sp>
      <p:sp>
        <p:nvSpPr>
          <p:cNvPr id="31" name="Text 28"/>
          <p:cNvSpPr txBox="1"/>
          <p:nvPr/>
        </p:nvSpPr>
        <p:spPr>
          <a:xfrm>
            <a:off x="2362170" y="4756069"/>
            <a:ext cx="8762787" cy="584210"/>
          </a:xfrm>
          <a:prstGeom prst="rect">
            <a:avLst/>
          </a:prstGeom>
          <a:noFill/>
          <a:ln/>
        </p:spPr>
        <p:txBody>
          <a:bodyPr wrap="square" lIns="0" tIns="0" rIns="0" bIns="0" rtlCol="0" anchor="ctr"/>
          <a:lstStyle/>
          <a:p>
            <a:pPr algn="l" indent="0" marL="0">
              <a:lnSpc>
                <a:spcPct val="110000"/>
              </a:lnSpc>
              <a:buNone/>
            </a:pPr>
            <a:r>
              <a:rPr lang="en-US" sz="1400" dirty="0">
                <a:solidFill>
                  <a:srgbClr val="B4C3D1"/>
                </a:solidFill>
              </a:rPr>
              <a:t>Map, Dispatch, Resources and Reports; plans saved in SQLite and exported as PDF</a:t>
            </a:r>
            <a:endParaRPr lang="en-US" sz="1400" dirty="0"/>
          </a:p>
        </p:txBody>
      </p:sp>
      <p:sp>
        <p:nvSpPr>
          <p:cNvPr id="32" name="Shape 29"/>
          <p:cNvSpPr/>
          <p:nvPr/>
        </p:nvSpPr>
        <p:spPr>
          <a:xfrm>
            <a:off x="812810" y="5511637"/>
            <a:ext cx="177759" cy="177759"/>
          </a:xfrm>
          <a:prstGeom prst="roundRect">
            <a:avLst>
              <a:gd name="adj" fmla="val 28601"/>
            </a:avLst>
          </a:prstGeom>
          <a:solidFill>
            <a:srgbClr val="E6EFF9"/>
          </a:solidFill>
          <a:ln w="28575">
            <a:solidFill>
              <a:schemeClr val="accent1"/>
            </a:solidFill>
            <a:prstDash val="solid"/>
          </a:ln>
        </p:spPr>
      </p:sp>
      <p:sp>
        <p:nvSpPr>
          <p:cNvPr id="33" name="Text 30"/>
          <p:cNvSpPr txBox="1"/>
          <p:nvPr/>
        </p:nvSpPr>
        <p:spPr>
          <a:xfrm>
            <a:off x="1092159" y="5498927"/>
            <a:ext cx="4444898" cy="203180"/>
          </a:xfrm>
          <a:prstGeom prst="rect">
            <a:avLst/>
          </a:prstGeom>
          <a:noFill/>
          <a:ln/>
        </p:spPr>
        <p:txBody>
          <a:bodyPr wrap="square" lIns="0" tIns="0" rIns="0" bIns="0" rtlCol="0" anchor="ctr"/>
          <a:lstStyle/>
          <a:p>
            <a:pPr algn="l" indent="0" marL="0">
              <a:lnSpc>
                <a:spcPct val="110000"/>
              </a:lnSpc>
              <a:buNone/>
            </a:pPr>
            <a:r>
              <a:rPr lang="en-US" sz="1200" dirty="0">
                <a:solidFill>
                  <a:srgbClr val="4A5865"/>
                </a:solidFill>
              </a:rPr>
              <a:t>Classical search: A* and a genetic algorithm</a:t>
            </a:r>
            <a:endParaRPr lang="en-US" sz="1200" dirty="0"/>
          </a:p>
        </p:txBody>
      </p:sp>
      <p:sp>
        <p:nvSpPr>
          <p:cNvPr id="34" name="Shape 31"/>
          <p:cNvSpPr/>
          <p:nvPr/>
        </p:nvSpPr>
        <p:spPr>
          <a:xfrm>
            <a:off x="5714817" y="5511637"/>
            <a:ext cx="177759" cy="177759"/>
          </a:xfrm>
          <a:prstGeom prst="roundRect">
            <a:avLst>
              <a:gd name="adj" fmla="val 28601"/>
            </a:avLst>
          </a:prstGeom>
          <a:solidFill>
            <a:schemeClr val="bg2"/>
          </a:solidFill>
          <a:ln w="19050">
            <a:solidFill>
              <a:srgbClr val="9AA7B2"/>
            </a:solidFill>
            <a:prstDash val="solid"/>
          </a:ln>
        </p:spPr>
      </p:sp>
      <p:sp>
        <p:nvSpPr>
          <p:cNvPr id="35" name="Text 32"/>
          <p:cNvSpPr txBox="1"/>
          <p:nvPr/>
        </p:nvSpPr>
        <p:spPr>
          <a:xfrm>
            <a:off x="5994258" y="5498927"/>
            <a:ext cx="5384627" cy="203180"/>
          </a:xfrm>
          <a:prstGeom prst="rect">
            <a:avLst/>
          </a:prstGeom>
          <a:noFill/>
          <a:ln/>
        </p:spPr>
        <p:txBody>
          <a:bodyPr wrap="square" lIns="0" tIns="0" rIns="0" bIns="0" rtlCol="0" anchor="ctr"/>
          <a:lstStyle/>
          <a:p>
            <a:pPr algn="l" indent="0" marL="0">
              <a:lnSpc>
                <a:spcPct val="110000"/>
              </a:lnSpc>
              <a:buNone/>
            </a:pPr>
            <a:r>
              <a:rPr lang="en-US" sz="1200" dirty="0">
                <a:solidFill>
                  <a:srgbClr val="4A5865"/>
                </a:solidFill>
              </a:rPr>
              <a:t>Rule-based arithmetic and data; no machine learning</a:t>
            </a:r>
            <a:endParaRPr lang="en-US" sz="12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Live data, with honest placeholders</a:t>
            </a:r>
            <a:endParaRPr lang="en-US" sz="3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10" y="1619220"/>
          <a:ext cx="10566166" cy="914400"/>
        </p:xfrm>
        <a:graphic>
          <a:graphicData uri="http://schemas.openxmlformats.org/drawingml/2006/table">
            <a:tbl>
              <a:tblPr/>
              <a:tblGrid>
                <a:gridCol w="3592495"/>
                <a:gridCol w="4226448"/>
                <a:gridCol w="2747223"/>
              </a:tblGrid>
              <a:tr h="406359">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Source</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What it provides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Status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r>
              <a:tr h="406359">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Open-Meteo</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Rain, wind gusts, waves, river index</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500" dirty="0">
                          <a:solidFill>
                            <a:srgbClr val="14508F"/>
                          </a:solidFill>
                          <a:latin typeface="Calibri" pitchFamily="34" charset="0"/>
                          <a:ea typeface="Calibri" pitchFamily="34" charset="-122"/>
                          <a:cs typeface="Calibri" pitchFamily="34" charset="-120"/>
                        </a:rPr>
                        <a:t>Live, every 15 minutes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r>
              <a:tr h="406359">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USGS earthquake catalogue</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Quakes within 600 km in the last 3 days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500" dirty="0">
                          <a:solidFill>
                            <a:srgbClr val="14508F"/>
                          </a:solidFill>
                          <a:latin typeface="Calibri" pitchFamily="34" charset="0"/>
                          <a:ea typeface="Calibri" pitchFamily="34" charset="-122"/>
                          <a:cs typeface="Calibri" pitchFamily="34" charset="-120"/>
                        </a:rPr>
                        <a:t>Live, every 15 minutes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r>
              <a:tr h="406359">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OpenStreetMap via Overpass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8,044 junctions and 10,474 road segments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500" dirty="0">
                          <a:solidFill>
                            <a:srgbClr val="14508F"/>
                          </a:solidFill>
                          <a:latin typeface="Calibri" pitchFamily="34" charset="0"/>
                          <a:ea typeface="Calibri" pitchFamily="34" charset="-122"/>
                          <a:cs typeface="Calibri" pitchFamily="34" charset="-120"/>
                        </a:rPr>
                        <a:t>Cached</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r>
              <a:tr h="406359">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Datameet and Transparent Chennai</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Shapes of the 19 zones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500" dirty="0">
                          <a:solidFill>
                            <a:srgbClr val="14508F"/>
                          </a:solidFill>
                          <a:latin typeface="Calibri" pitchFamily="34" charset="0"/>
                          <a:ea typeface="Calibri" pitchFamily="34" charset="-122"/>
                          <a:cs typeface="Calibri" pitchFamily="34" charset="-120"/>
                        </a:rPr>
                        <a:t>Open data (CC BY-SA)</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r>
              <a:tr h="406359">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Depots, stock, fleet, hotspots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23 depots, 46 trucks, 57 flood hotspots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500" dirty="0">
                          <a:solidFill>
                            <a:srgbClr val="A33018"/>
                          </a:solidFill>
                          <a:latin typeface="Calibri" pitchFamily="34" charset="0"/>
                          <a:ea typeface="Calibri" pitchFamily="34" charset="-122"/>
                          <a:cs typeface="Calibri" pitchFamily="34" charset="-120"/>
                        </a:rPr>
                        <a:t>Placeholder, editable</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r>
              <a:tr h="406359">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Zone populations</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6.48 million people across 712 km²</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500" dirty="0">
                          <a:solidFill>
                            <a:srgbClr val="A33018"/>
                          </a:solidFill>
                          <a:latin typeface="Calibri" pitchFamily="34" charset="0"/>
                          <a:ea typeface="Calibri" pitchFamily="34" charset="-122"/>
                          <a:cs typeface="Calibri" pitchFamily="34" charset="-120"/>
                        </a:rPr>
                        <a:t>Modelled</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r>
            </a:tbl>
          </a:graphicData>
        </a:graphic>
      </p:graphicFrame>
      <p:sp>
        <p:nvSpPr>
          <p:cNvPr id="5" name="Shape 1"/>
          <p:cNvSpPr/>
          <p:nvPr/>
        </p:nvSpPr>
        <p:spPr>
          <a:xfrm>
            <a:off x="812810" y="4667098"/>
            <a:ext cx="5181448" cy="1206459"/>
          </a:xfrm>
          <a:prstGeom prst="roundRect">
            <a:avLst>
              <a:gd name="adj" fmla="val 10528"/>
            </a:avLst>
          </a:prstGeom>
          <a:solidFill>
            <a:srgbClr val="E6EFF9"/>
          </a:solidFill>
          <a:ln w="9525">
            <a:solidFill>
              <a:srgbClr val="B9D1EC"/>
            </a:solidFill>
            <a:prstDash val="solid"/>
          </a:ln>
        </p:spPr>
      </p:sp>
      <p:sp>
        <p:nvSpPr>
          <p:cNvPr id="6" name="Text 2"/>
          <p:cNvSpPr txBox="1"/>
          <p:nvPr/>
        </p:nvSpPr>
        <p:spPr>
          <a:xfrm>
            <a:off x="1015990" y="4844948"/>
            <a:ext cx="4775088" cy="279349"/>
          </a:xfrm>
          <a:prstGeom prst="rect">
            <a:avLst/>
          </a:prstGeom>
          <a:noFill/>
          <a:ln/>
        </p:spPr>
        <p:txBody>
          <a:bodyPr wrap="square" lIns="0" tIns="0" rIns="0" bIns="0" rtlCol="0" anchor="t"/>
          <a:lstStyle/>
          <a:p>
            <a:pPr algn="l" indent="0" marL="0">
              <a:lnSpc>
                <a:spcPct val="110000"/>
              </a:lnSpc>
              <a:buNone/>
            </a:pPr>
            <a:r>
              <a:rPr lang="en-US" sz="1800" b="1" dirty="0">
                <a:solidFill>
                  <a:srgbClr val="14508F"/>
                </a:solidFill>
                <a:latin typeface="+mj-lt" pitchFamily="34" charset="0"/>
                <a:ea typeface="+mj-lt" pitchFamily="34" charset="-122"/>
                <a:cs typeface="+mj-lt" pitchFamily="34" charset="-120"/>
              </a:rPr>
              <a:t>Public sources</a:t>
            </a:r>
            <a:endParaRPr lang="en-US" sz="1800" dirty="0"/>
          </a:p>
        </p:txBody>
      </p:sp>
      <p:sp>
        <p:nvSpPr>
          <p:cNvPr id="7" name="Text 3"/>
          <p:cNvSpPr txBox="1"/>
          <p:nvPr/>
        </p:nvSpPr>
        <p:spPr>
          <a:xfrm>
            <a:off x="1015990" y="5200559"/>
            <a:ext cx="4775088" cy="57150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Weather, quakes, roads and zone shapes are read from open feeds, not typed in.</a:t>
            </a:r>
            <a:endParaRPr lang="en-US" sz="1400" dirty="0"/>
          </a:p>
        </p:txBody>
      </p:sp>
      <p:sp>
        <p:nvSpPr>
          <p:cNvPr id="8" name="Shape 4"/>
          <p:cNvSpPr/>
          <p:nvPr/>
        </p:nvSpPr>
        <p:spPr>
          <a:xfrm>
            <a:off x="6197437" y="4667098"/>
            <a:ext cx="5181448" cy="1206459"/>
          </a:xfrm>
          <a:prstGeom prst="roundRect">
            <a:avLst>
              <a:gd name="adj" fmla="val 10528"/>
            </a:avLst>
          </a:prstGeom>
          <a:solidFill>
            <a:srgbClr val="F8E3DD"/>
          </a:solidFill>
          <a:ln w="9525">
            <a:solidFill>
              <a:srgbClr val="E8B9AC"/>
            </a:solidFill>
            <a:prstDash val="solid"/>
          </a:ln>
        </p:spPr>
      </p:sp>
      <p:sp>
        <p:nvSpPr>
          <p:cNvPr id="9" name="Text 5"/>
          <p:cNvSpPr txBox="1"/>
          <p:nvPr/>
        </p:nvSpPr>
        <p:spPr>
          <a:xfrm>
            <a:off x="6400617" y="4844948"/>
            <a:ext cx="4775088" cy="279349"/>
          </a:xfrm>
          <a:prstGeom prst="rect">
            <a:avLst/>
          </a:prstGeom>
          <a:noFill/>
          <a:ln/>
        </p:spPr>
        <p:txBody>
          <a:bodyPr wrap="square" lIns="0" tIns="0" rIns="0" bIns="0" rtlCol="0" anchor="t"/>
          <a:lstStyle/>
          <a:p>
            <a:pPr algn="l" indent="0" marL="0">
              <a:lnSpc>
                <a:spcPct val="110000"/>
              </a:lnSpc>
              <a:buNone/>
            </a:pPr>
            <a:r>
              <a:rPr lang="en-US" sz="1800" b="1" dirty="0">
                <a:solidFill>
                  <a:srgbClr val="A33018"/>
                </a:solidFill>
                <a:latin typeface="+mj-lt" pitchFamily="34" charset="0"/>
                <a:ea typeface="+mj-lt" pitchFamily="34" charset="-122"/>
                <a:cs typeface="+mj-lt" pitchFamily="34" charset="-120"/>
              </a:rPr>
              <a:t>Stand-ins and estimates</a:t>
            </a:r>
            <a:endParaRPr lang="en-US" sz="1800" dirty="0"/>
          </a:p>
        </p:txBody>
      </p:sp>
      <p:sp>
        <p:nvSpPr>
          <p:cNvPr id="10" name="Text 6"/>
          <p:cNvSpPr txBox="1"/>
          <p:nvPr/>
        </p:nvSpPr>
        <p:spPr>
          <a:xfrm>
            <a:off x="6400617" y="5200559"/>
            <a:ext cx="4775088" cy="57150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Stock, fleet and hotspots are representative, so coverage describes the model, not a real fleet.</a:t>
            </a:r>
            <a:endParaRPr lang="en-US" sz="14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Hazard rules turn weather into a score</a:t>
            </a:r>
            <a:endParaRPr lang="en-US" sz="3600" dirty="0"/>
          </a:p>
        </p:txBody>
      </p:sp>
      <p:sp>
        <p:nvSpPr>
          <p:cNvPr id="4" name="Shape 1"/>
          <p:cNvSpPr/>
          <p:nvPr/>
        </p:nvSpPr>
        <p:spPr>
          <a:xfrm>
            <a:off x="812810" y="1619220"/>
            <a:ext cx="5968837" cy="1003280"/>
          </a:xfrm>
          <a:prstGeom prst="roundRect">
            <a:avLst>
              <a:gd name="adj" fmla="val 10126"/>
            </a:avLst>
          </a:prstGeom>
          <a:solidFill>
            <a:schemeClr val="bg2"/>
          </a:solidFill>
          <a:ln w="9525">
            <a:solidFill>
              <a:srgbClr val="D7DDD8"/>
            </a:solidFill>
            <a:prstDash val="solid"/>
          </a:ln>
        </p:spPr>
      </p:sp>
      <p:sp>
        <p:nvSpPr>
          <p:cNvPr id="5" name="Text 2"/>
          <p:cNvSpPr txBox="1"/>
          <p:nvPr/>
        </p:nvSpPr>
        <p:spPr>
          <a:xfrm>
            <a:off x="1015990" y="1758940"/>
            <a:ext cx="5562478" cy="190470"/>
          </a:xfrm>
          <a:prstGeom prst="rect">
            <a:avLst/>
          </a:prstGeom>
          <a:noFill/>
          <a:ln/>
        </p:spPr>
        <p:txBody>
          <a:bodyPr wrap="square" lIns="0" tIns="0" rIns="0" bIns="0" rtlCol="0" anchor="t"/>
          <a:lstStyle/>
          <a:p>
            <a:pPr algn="l" indent="0" marL="0">
              <a:lnSpc>
                <a:spcPct val="110000"/>
              </a:lnSpc>
              <a:buNone/>
            </a:pPr>
            <a:r>
              <a:rPr lang="en-US" sz="1200" b="1" dirty="0">
                <a:solidFill>
                  <a:schemeClr val="accent1"/>
                </a:solidFill>
              </a:rPr>
              <a:t>Flood score, one zone</a:t>
            </a:r>
            <a:endParaRPr lang="en-US" sz="1200" dirty="0"/>
          </a:p>
        </p:txBody>
      </p:sp>
      <p:sp>
        <p:nvSpPr>
          <p:cNvPr id="6" name="Text 3"/>
          <p:cNvSpPr txBox="1"/>
          <p:nvPr/>
        </p:nvSpPr>
        <p:spPr>
          <a:xfrm>
            <a:off x="1015990" y="2000159"/>
            <a:ext cx="5562478" cy="507949"/>
          </a:xfrm>
          <a:prstGeom prst="rect">
            <a:avLst/>
          </a:prstGeom>
          <a:noFill/>
          <a:ln/>
        </p:spPr>
        <p:txBody>
          <a:bodyPr wrap="square" lIns="0" tIns="0" rIns="0" bIns="0" rtlCol="0" anchor="t"/>
          <a:lstStyle/>
          <a:p>
            <a:pPr algn="l" indent="0" marL="0">
              <a:lnSpc>
                <a:spcPct val="110000"/>
              </a:lnSpc>
              <a:buNone/>
            </a:pPr>
            <a:r>
              <a:rPr lang="en-US" sz="1600" dirty="0">
                <a:solidFill>
                  <a:schemeClr val="tx1"/>
                </a:solidFill>
                <a:latin typeface="+mj-lt" pitchFamily="34" charset="0"/>
                <a:ea typeface="+mj-lt" pitchFamily="34" charset="-122"/>
                <a:cs typeface="+mj-lt" pitchFamily="34" charset="-120"/>
              </a:rPr>
              <a:t>100 × rain × susceptibility × (1 + 0.12 × river × low-lying)</a:t>
            </a:r>
            <a:endParaRPr lang="en-US" sz="1600" dirty="0"/>
          </a:p>
        </p:txBody>
      </p:sp>
      <p:sp>
        <p:nvSpPr>
          <p:cNvPr id="7" name="Shape 4"/>
          <p:cNvSpPr/>
          <p:nvPr/>
        </p:nvSpPr>
        <p:spPr>
          <a:xfrm>
            <a:off x="812810" y="2724089"/>
            <a:ext cx="5968837" cy="1003280"/>
          </a:xfrm>
          <a:prstGeom prst="roundRect">
            <a:avLst>
              <a:gd name="adj" fmla="val 10126"/>
            </a:avLst>
          </a:prstGeom>
          <a:solidFill>
            <a:schemeClr val="bg2"/>
          </a:solidFill>
          <a:ln w="9525">
            <a:solidFill>
              <a:srgbClr val="D7DDD8"/>
            </a:solidFill>
            <a:prstDash val="solid"/>
          </a:ln>
        </p:spPr>
      </p:sp>
      <p:sp>
        <p:nvSpPr>
          <p:cNvPr id="8" name="Text 5"/>
          <p:cNvSpPr txBox="1"/>
          <p:nvPr/>
        </p:nvSpPr>
        <p:spPr>
          <a:xfrm>
            <a:off x="1015990" y="2863809"/>
            <a:ext cx="5562478" cy="190470"/>
          </a:xfrm>
          <a:prstGeom prst="rect">
            <a:avLst/>
          </a:prstGeom>
          <a:noFill/>
          <a:ln/>
        </p:spPr>
        <p:txBody>
          <a:bodyPr wrap="square" lIns="0" tIns="0" rIns="0" bIns="0" rtlCol="0" anchor="t"/>
          <a:lstStyle/>
          <a:p>
            <a:pPr algn="l" indent="0" marL="0">
              <a:lnSpc>
                <a:spcPct val="110000"/>
              </a:lnSpc>
              <a:buNone/>
            </a:pPr>
            <a:r>
              <a:rPr lang="en-US" sz="1200" b="1" dirty="0">
                <a:solidFill>
                  <a:schemeClr val="accent1"/>
                </a:solidFill>
              </a:rPr>
              <a:t>Zone score</a:t>
            </a:r>
            <a:endParaRPr lang="en-US" sz="1200" dirty="0"/>
          </a:p>
        </p:txBody>
      </p:sp>
      <p:sp>
        <p:nvSpPr>
          <p:cNvPr id="9" name="Text 6"/>
          <p:cNvSpPr txBox="1"/>
          <p:nvPr/>
        </p:nvSpPr>
        <p:spPr>
          <a:xfrm>
            <a:off x="1015990" y="3105028"/>
            <a:ext cx="5562478" cy="507949"/>
          </a:xfrm>
          <a:prstGeom prst="rect">
            <a:avLst/>
          </a:prstGeom>
          <a:noFill/>
          <a:ln/>
        </p:spPr>
        <p:txBody>
          <a:bodyPr wrap="square" lIns="0" tIns="0" rIns="0" bIns="0" rtlCol="0" anchor="t"/>
          <a:lstStyle/>
          <a:p>
            <a:pPr algn="l" indent="0" marL="0">
              <a:lnSpc>
                <a:spcPct val="110000"/>
              </a:lnSpc>
              <a:buNone/>
            </a:pPr>
            <a:r>
              <a:rPr lang="en-US" sz="1600" dirty="0">
                <a:solidFill>
                  <a:schemeClr val="tx1"/>
                </a:solidFill>
                <a:latin typeface="+mj-lt" pitchFamily="34" charset="0"/>
                <a:ea typeface="+mj-lt" pitchFamily="34" charset="-122"/>
                <a:cs typeface="+mj-lt" pitchFamily="34" charset="-120"/>
              </a:rPr>
              <a:t>largest hazard + 0.30 × second largest, capped at 100</a:t>
            </a:r>
            <a:endParaRPr lang="en-US" sz="1600" dirty="0"/>
          </a:p>
        </p:txBody>
      </p:sp>
      <p:sp>
        <p:nvSpPr>
          <p:cNvPr id="10" name="Shape 7"/>
          <p:cNvSpPr/>
          <p:nvPr/>
        </p:nvSpPr>
        <p:spPr>
          <a:xfrm>
            <a:off x="812810" y="3828959"/>
            <a:ext cx="5968837" cy="1003280"/>
          </a:xfrm>
          <a:prstGeom prst="roundRect">
            <a:avLst>
              <a:gd name="adj" fmla="val 10126"/>
            </a:avLst>
          </a:prstGeom>
          <a:solidFill>
            <a:schemeClr val="bg2"/>
          </a:solidFill>
          <a:ln w="9525">
            <a:solidFill>
              <a:srgbClr val="D7DDD8"/>
            </a:solidFill>
            <a:prstDash val="solid"/>
          </a:ln>
        </p:spPr>
      </p:sp>
      <p:sp>
        <p:nvSpPr>
          <p:cNvPr id="11" name="Text 8"/>
          <p:cNvSpPr txBox="1"/>
          <p:nvPr/>
        </p:nvSpPr>
        <p:spPr>
          <a:xfrm>
            <a:off x="1015990" y="3968679"/>
            <a:ext cx="5562478" cy="190470"/>
          </a:xfrm>
          <a:prstGeom prst="rect">
            <a:avLst/>
          </a:prstGeom>
          <a:noFill/>
          <a:ln/>
        </p:spPr>
        <p:txBody>
          <a:bodyPr wrap="square" lIns="0" tIns="0" rIns="0" bIns="0" rtlCol="0" anchor="t"/>
          <a:lstStyle/>
          <a:p>
            <a:pPr algn="l" indent="0" marL="0">
              <a:lnSpc>
                <a:spcPct val="110000"/>
              </a:lnSpc>
              <a:buNone/>
            </a:pPr>
            <a:r>
              <a:rPr lang="en-US" sz="1200" b="1" dirty="0">
                <a:solidFill>
                  <a:schemeClr val="accent1"/>
                </a:solidFill>
              </a:rPr>
              <a:t>City disaster meter</a:t>
            </a:r>
            <a:endParaRPr lang="en-US" sz="1200" dirty="0"/>
          </a:p>
        </p:txBody>
      </p:sp>
      <p:sp>
        <p:nvSpPr>
          <p:cNvPr id="12" name="Text 9"/>
          <p:cNvSpPr txBox="1"/>
          <p:nvPr/>
        </p:nvSpPr>
        <p:spPr>
          <a:xfrm>
            <a:off x="1015990" y="4209989"/>
            <a:ext cx="5562478" cy="507949"/>
          </a:xfrm>
          <a:prstGeom prst="rect">
            <a:avLst/>
          </a:prstGeom>
          <a:noFill/>
          <a:ln/>
        </p:spPr>
        <p:txBody>
          <a:bodyPr wrap="square" lIns="0" tIns="0" rIns="0" bIns="0" rtlCol="0" anchor="t"/>
          <a:lstStyle/>
          <a:p>
            <a:pPr algn="l" indent="0" marL="0">
              <a:lnSpc>
                <a:spcPct val="110000"/>
              </a:lnSpc>
              <a:buNone/>
            </a:pPr>
            <a:r>
              <a:rPr lang="en-US" sz="1600" dirty="0">
                <a:solidFill>
                  <a:schemeClr val="tx1"/>
                </a:solidFill>
                <a:latin typeface="+mj-lt" pitchFamily="34" charset="0"/>
                <a:ea typeface="+mj-lt" pitchFamily="34" charset="-122"/>
                <a:cs typeface="+mj-lt" pitchFamily="34" charset="-120"/>
              </a:rPr>
              <a:t>0.55 × worst zone + 0.45 × population-weighted mean</a:t>
            </a:r>
            <a:endParaRPr lang="en-US" sz="1600" dirty="0"/>
          </a:p>
        </p:txBody>
      </p:sp>
      <p:pic>
        <p:nvPicPr>
          <p:cNvPr id="13" name="Image 0" descr="Live map screenshot showing the disaster meter at 94, Severe, for the 2015 floods replay">    </p:cNvPr>
          <p:cNvPicPr>
            <a:picLocks noChangeAspect="1"/>
          </p:cNvPicPr>
          <p:nvPr/>
        </p:nvPicPr>
        <p:blipFill>
          <a:blip r:embed="rId1"/>
          <a:stretch>
            <a:fillRect/>
          </a:stretch>
        </p:blipFill>
        <p:spPr>
          <a:xfrm>
            <a:off x="7086417" y="1619220"/>
            <a:ext cx="4292468" cy="2685959"/>
          </a:xfrm>
          <a:prstGeom prst="rect">
            <a:avLst/>
          </a:prstGeom>
        </p:spPr>
      </p:pic>
      <p:sp>
        <p:nvSpPr>
          <p:cNvPr id="14" name="Text 10"/>
          <p:cNvSpPr txBox="1"/>
          <p:nvPr/>
        </p:nvSpPr>
        <p:spPr>
          <a:xfrm>
            <a:off x="7086417" y="4381348"/>
            <a:ext cx="4292468" cy="203180"/>
          </a:xfrm>
          <a:prstGeom prst="rect">
            <a:avLst/>
          </a:prstGeom>
          <a:noFill/>
          <a:ln/>
        </p:spPr>
        <p:txBody>
          <a:bodyPr wrap="square" lIns="0" tIns="0" rIns="0" bIns="0" rtlCol="0" anchor="t"/>
          <a:lstStyle/>
          <a:p>
            <a:pPr algn="l" indent="0" marL="0">
              <a:lnSpc>
                <a:spcPct val="110000"/>
              </a:lnSpc>
              <a:buNone/>
            </a:pPr>
            <a:r>
              <a:rPr lang="en-US" sz="1200" dirty="0">
                <a:solidFill>
                  <a:srgbClr val="4A5865"/>
                </a:solidFill>
              </a:rPr>
              <a:t>The app's map for the 2015 floods: meter 94, Severe</a:t>
            </a:r>
            <a:endParaRPr lang="en-US" sz="1200" dirty="0"/>
          </a:p>
        </p:txBody>
      </p:sp>
      <p:sp>
        <p:nvSpPr>
          <p:cNvPr id="15" name="Text 11"/>
          <p:cNvSpPr txBox="1"/>
          <p:nvPr/>
        </p:nvSpPr>
        <p:spPr>
          <a:xfrm>
            <a:off x="812810" y="5016398"/>
            <a:ext cx="5079858" cy="203180"/>
          </a:xfrm>
          <a:prstGeom prst="rect">
            <a:avLst/>
          </a:prstGeom>
          <a:noFill/>
          <a:ln/>
        </p:spPr>
        <p:txBody>
          <a:bodyPr wrap="square" lIns="0" tIns="0" rIns="0" bIns="0" rtlCol="0" anchor="t"/>
          <a:lstStyle/>
          <a:p>
            <a:pPr algn="l" indent="0" marL="0">
              <a:lnSpc>
                <a:spcPct val="110000"/>
              </a:lnSpc>
              <a:buNone/>
            </a:pPr>
            <a:r>
              <a:rPr lang="en-US" sz="1200" dirty="0">
                <a:solidFill>
                  <a:srgbClr val="4A5865"/>
                </a:solidFill>
              </a:rPr>
              <a:t>City disaster meter, 0 to 100</a:t>
            </a:r>
            <a:endParaRPr lang="en-US" sz="1200" dirty="0"/>
          </a:p>
        </p:txBody>
      </p:sp>
      <p:sp>
        <p:nvSpPr>
          <p:cNvPr id="16" name="Text 12"/>
          <p:cNvSpPr/>
          <p:nvPr/>
        </p:nvSpPr>
        <p:spPr>
          <a:xfrm>
            <a:off x="812810" y="5270327"/>
            <a:ext cx="2641519" cy="444490"/>
          </a:xfrm>
          <a:prstGeom prst="rect">
            <a:avLst/>
          </a:prstGeom>
          <a:solidFill>
            <a:srgbClr val="CFE5D8"/>
          </a:solidFill>
          <a:ln/>
        </p:spPr>
        <p:txBody>
          <a:bodyPr wrap="square" lIns="0" tIns="0" rIns="0" bIns="0" rtlCol="0" anchor="ctr"/>
          <a:lstStyle/>
          <a:p>
            <a:pPr algn="ctr" indent="0" marL="0">
              <a:buNone/>
            </a:pPr>
            <a:r>
              <a:rPr lang="en-US" sz="1400" b="1" dirty="0">
                <a:solidFill>
                  <a:schemeClr val="tx1"/>
                </a:solidFill>
              </a:rPr>
              <a:t>Below 25</a:t>
            </a:r>
            <a:endParaRPr lang="en-US" sz="1400" dirty="0"/>
          </a:p>
        </p:txBody>
      </p:sp>
      <p:sp>
        <p:nvSpPr>
          <p:cNvPr id="17" name="Text 13"/>
          <p:cNvSpPr/>
          <p:nvPr/>
        </p:nvSpPr>
        <p:spPr>
          <a:xfrm>
            <a:off x="3454329" y="5270327"/>
            <a:ext cx="2641519" cy="444490"/>
          </a:xfrm>
          <a:prstGeom prst="rect">
            <a:avLst/>
          </a:prstGeom>
          <a:solidFill>
            <a:srgbClr val="F4DFA0"/>
          </a:solidFill>
          <a:ln/>
        </p:spPr>
        <p:txBody>
          <a:bodyPr wrap="square" lIns="0" tIns="0" rIns="0" bIns="0" rtlCol="0" anchor="ctr"/>
          <a:lstStyle/>
          <a:p>
            <a:pPr algn="ctr" indent="0" marL="0">
              <a:buNone/>
            </a:pPr>
            <a:r>
              <a:rPr lang="en-US" sz="1400" b="1" dirty="0">
                <a:solidFill>
                  <a:schemeClr val="tx1"/>
                </a:solidFill>
              </a:rPr>
              <a:t>Elevated, from 25</a:t>
            </a:r>
            <a:endParaRPr lang="en-US" sz="1400" dirty="0"/>
          </a:p>
        </p:txBody>
      </p:sp>
      <p:sp>
        <p:nvSpPr>
          <p:cNvPr id="18" name="Text 14"/>
          <p:cNvSpPr/>
          <p:nvPr/>
        </p:nvSpPr>
        <p:spPr>
          <a:xfrm>
            <a:off x="6095848" y="5270327"/>
            <a:ext cx="2641519" cy="444490"/>
          </a:xfrm>
          <a:prstGeom prst="rect">
            <a:avLst/>
          </a:prstGeom>
          <a:solidFill>
            <a:srgbClr val="F0B58A"/>
          </a:solidFill>
          <a:ln/>
        </p:spPr>
        <p:txBody>
          <a:bodyPr wrap="square" lIns="0" tIns="0" rIns="0" bIns="0" rtlCol="0" anchor="ctr"/>
          <a:lstStyle/>
          <a:p>
            <a:pPr algn="ctr" indent="0" marL="0">
              <a:buNone/>
            </a:pPr>
            <a:r>
              <a:rPr lang="en-US" sz="1400" b="1" dirty="0">
                <a:solidFill>
                  <a:schemeClr val="tx1"/>
                </a:solidFill>
              </a:rPr>
              <a:t>High, from 50</a:t>
            </a:r>
            <a:endParaRPr lang="en-US" sz="1400" dirty="0"/>
          </a:p>
        </p:txBody>
      </p:sp>
      <p:sp>
        <p:nvSpPr>
          <p:cNvPr id="19" name="Text 15"/>
          <p:cNvSpPr/>
          <p:nvPr/>
        </p:nvSpPr>
        <p:spPr>
          <a:xfrm>
            <a:off x="8737366" y="5270327"/>
            <a:ext cx="2641519" cy="444490"/>
          </a:xfrm>
          <a:prstGeom prst="rect">
            <a:avLst/>
          </a:prstGeom>
          <a:solidFill>
            <a:schemeClr val="accent2"/>
          </a:solidFill>
          <a:ln/>
        </p:spPr>
        <p:txBody>
          <a:bodyPr wrap="square" lIns="0" tIns="0" rIns="0" bIns="0" rtlCol="0" anchor="ctr"/>
          <a:lstStyle/>
          <a:p>
            <a:pPr algn="ctr" indent="0" marL="0">
              <a:buNone/>
            </a:pPr>
            <a:r>
              <a:rPr lang="en-US" sz="1400" b="1" dirty="0">
                <a:solidFill>
                  <a:srgbClr val="FFFFFF"/>
                </a:solidFill>
              </a:rPr>
              <a:t>Severe, from 75</a:t>
            </a:r>
            <a:endParaRPr lang="en-US" sz="14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Six replayed events, one scale</a:t>
            </a:r>
            <a:endParaRPr lang="en-US" sz="3600" dirty="0"/>
          </a:p>
        </p:txBody>
      </p:sp>
      <p:sp>
        <p:nvSpPr>
          <p:cNvPr id="4" name="Text 1"/>
          <p:cNvSpPr txBox="1"/>
          <p:nvPr/>
        </p:nvSpPr>
        <p:spPr>
          <a:xfrm>
            <a:off x="812810" y="1663659"/>
            <a:ext cx="2285909" cy="254020"/>
          </a:xfrm>
          <a:prstGeom prst="rect">
            <a:avLst/>
          </a:prstGeom>
          <a:noFill/>
          <a:ln/>
        </p:spPr>
        <p:txBody>
          <a:bodyPr wrap="square" lIns="0" tIns="0" rIns="0" bIns="0" rtlCol="0" anchor="b"/>
          <a:lstStyle/>
          <a:p>
            <a:pPr algn="l" indent="0" marL="0">
              <a:lnSpc>
                <a:spcPct val="110000"/>
              </a:lnSpc>
              <a:buNone/>
            </a:pPr>
            <a:r>
              <a:rPr lang="en-US" sz="1200" b="1" dirty="0">
                <a:solidFill>
                  <a:srgbClr val="5C6975"/>
                </a:solidFill>
              </a:rPr>
              <a:t>Event</a:t>
            </a:r>
            <a:endParaRPr lang="en-US" sz="1200" dirty="0"/>
          </a:p>
        </p:txBody>
      </p:sp>
      <p:sp>
        <p:nvSpPr>
          <p:cNvPr id="5" name="Text 2"/>
          <p:cNvSpPr txBox="1"/>
          <p:nvPr/>
        </p:nvSpPr>
        <p:spPr>
          <a:xfrm>
            <a:off x="3225729" y="1663659"/>
            <a:ext cx="2285909" cy="254020"/>
          </a:xfrm>
          <a:prstGeom prst="rect">
            <a:avLst/>
          </a:prstGeom>
          <a:noFill/>
          <a:ln/>
        </p:spPr>
        <p:txBody>
          <a:bodyPr wrap="square" lIns="0" tIns="0" rIns="0" bIns="0" rtlCol="0" anchor="b"/>
          <a:lstStyle/>
          <a:p>
            <a:pPr algn="l" indent="0" marL="0">
              <a:lnSpc>
                <a:spcPct val="110000"/>
              </a:lnSpc>
              <a:buNone/>
            </a:pPr>
            <a:r>
              <a:rPr lang="en-US" sz="1200" b="1" dirty="0">
                <a:solidFill>
                  <a:srgbClr val="5C6975"/>
                </a:solidFill>
              </a:rPr>
              <a:t>City disaster meter</a:t>
            </a:r>
            <a:endParaRPr lang="en-US" sz="1200" dirty="0"/>
          </a:p>
        </p:txBody>
      </p:sp>
      <p:sp>
        <p:nvSpPr>
          <p:cNvPr id="6" name="Text 3"/>
          <p:cNvSpPr txBox="1"/>
          <p:nvPr/>
        </p:nvSpPr>
        <p:spPr>
          <a:xfrm>
            <a:off x="5892668" y="1663659"/>
            <a:ext cx="2285909" cy="254020"/>
          </a:xfrm>
          <a:prstGeom prst="rect">
            <a:avLst/>
          </a:prstGeom>
          <a:noFill/>
          <a:ln/>
        </p:spPr>
        <p:txBody>
          <a:bodyPr wrap="square" lIns="0" tIns="0" rIns="0" bIns="0" rtlCol="0" anchor="b"/>
          <a:lstStyle/>
          <a:p>
            <a:pPr algn="l" indent="0" marL="0">
              <a:lnSpc>
                <a:spcPct val="110000"/>
              </a:lnSpc>
              <a:buNone/>
            </a:pPr>
            <a:r>
              <a:rPr lang="en-US" sz="1200" b="1" dirty="0">
                <a:solidFill>
                  <a:srgbClr val="5C6975"/>
                </a:solidFill>
              </a:rPr>
              <a:t>Level</a:t>
            </a:r>
            <a:endParaRPr lang="en-US" sz="1200" dirty="0"/>
          </a:p>
        </p:txBody>
      </p:sp>
      <p:sp>
        <p:nvSpPr>
          <p:cNvPr id="7" name="Text 4"/>
          <p:cNvSpPr txBox="1"/>
          <p:nvPr/>
        </p:nvSpPr>
        <p:spPr>
          <a:xfrm>
            <a:off x="6718097" y="1663659"/>
            <a:ext cx="2285909" cy="254020"/>
          </a:xfrm>
          <a:prstGeom prst="rect">
            <a:avLst/>
          </a:prstGeom>
          <a:noFill/>
          <a:ln/>
        </p:spPr>
        <p:txBody>
          <a:bodyPr wrap="square" lIns="0" tIns="0" rIns="0" bIns="0" rtlCol="0" anchor="b"/>
          <a:lstStyle/>
          <a:p>
            <a:pPr algn="l" indent="0" marL="0">
              <a:lnSpc>
                <a:spcPct val="110000"/>
              </a:lnSpc>
              <a:buNone/>
            </a:pPr>
            <a:r>
              <a:rPr lang="en-US" sz="1200" b="1" dirty="0">
                <a:solidFill>
                  <a:srgbClr val="5C6975"/>
                </a:solidFill>
              </a:rPr>
              <a:t>Areas (Critical)</a:t>
            </a:r>
            <a:endParaRPr lang="en-US" sz="1200" dirty="0"/>
          </a:p>
        </p:txBody>
      </p:sp>
      <p:sp>
        <p:nvSpPr>
          <p:cNvPr id="8" name="Text 5"/>
          <p:cNvSpPr txBox="1"/>
          <p:nvPr/>
        </p:nvSpPr>
        <p:spPr>
          <a:xfrm>
            <a:off x="8178576" y="1663659"/>
            <a:ext cx="2285909" cy="254020"/>
          </a:xfrm>
          <a:prstGeom prst="rect">
            <a:avLst/>
          </a:prstGeom>
          <a:noFill/>
          <a:ln/>
        </p:spPr>
        <p:txBody>
          <a:bodyPr wrap="square" lIns="0" tIns="0" rIns="0" bIns="0" rtlCol="0" anchor="b"/>
          <a:lstStyle/>
          <a:p>
            <a:pPr algn="l" indent="0" marL="0">
              <a:lnSpc>
                <a:spcPct val="110000"/>
              </a:lnSpc>
              <a:buNone/>
            </a:pPr>
            <a:r>
              <a:rPr lang="en-US" sz="1200" b="1" dirty="0">
                <a:solidFill>
                  <a:srgbClr val="5C6975"/>
                </a:solidFill>
              </a:rPr>
              <a:t>People affected</a:t>
            </a:r>
            <a:endParaRPr lang="en-US" sz="1200" dirty="0"/>
          </a:p>
        </p:txBody>
      </p:sp>
      <p:sp>
        <p:nvSpPr>
          <p:cNvPr id="9" name="Text 6"/>
          <p:cNvSpPr txBox="1"/>
          <p:nvPr/>
        </p:nvSpPr>
        <p:spPr>
          <a:xfrm>
            <a:off x="9537466" y="1663659"/>
            <a:ext cx="2285909" cy="254020"/>
          </a:xfrm>
          <a:prstGeom prst="rect">
            <a:avLst/>
          </a:prstGeom>
          <a:noFill/>
          <a:ln/>
        </p:spPr>
        <p:txBody>
          <a:bodyPr wrap="square" lIns="0" tIns="0" rIns="0" bIns="0" rtlCol="0" anchor="b"/>
          <a:lstStyle/>
          <a:p>
            <a:pPr algn="l" indent="0" marL="0">
              <a:lnSpc>
                <a:spcPct val="110000"/>
              </a:lnSpc>
              <a:buNone/>
            </a:pPr>
            <a:r>
              <a:rPr lang="en-US" sz="1200" b="1" dirty="0">
                <a:solidFill>
                  <a:srgbClr val="5C6975"/>
                </a:solidFill>
              </a:rPr>
              <a:t>Roads slowed / closed</a:t>
            </a:r>
            <a:endParaRPr lang="en-US" sz="1200" dirty="0"/>
          </a:p>
        </p:txBody>
      </p:sp>
      <p:sp>
        <p:nvSpPr>
          <p:cNvPr id="10" name="Shape 7"/>
          <p:cNvSpPr/>
          <p:nvPr/>
        </p:nvSpPr>
        <p:spPr>
          <a:xfrm>
            <a:off x="812810" y="1981139"/>
            <a:ext cx="10566166" cy="0"/>
          </a:xfrm>
          <a:prstGeom prst="line">
            <a:avLst/>
          </a:prstGeom>
          <a:noFill/>
          <a:ln w="9525">
            <a:solidFill>
              <a:srgbClr val="D7DDD8"/>
            </a:solidFill>
            <a:prstDash val="solid"/>
          </a:ln>
        </p:spPr>
      </p:sp>
      <p:sp>
        <p:nvSpPr>
          <p:cNvPr id="11" name="Text 8"/>
          <p:cNvSpPr txBox="1"/>
          <p:nvPr/>
        </p:nvSpPr>
        <p:spPr>
          <a:xfrm>
            <a:off x="812810" y="1981139"/>
            <a:ext cx="2349459" cy="533370"/>
          </a:xfrm>
          <a:prstGeom prst="rect">
            <a:avLst/>
          </a:prstGeom>
          <a:noFill/>
          <a:ln/>
        </p:spPr>
        <p:txBody>
          <a:bodyPr wrap="square" lIns="0" tIns="0" rIns="0" bIns="0" rtlCol="0" anchor="ctr"/>
          <a:lstStyle/>
          <a:p>
            <a:pPr algn="l" indent="0" marL="0">
              <a:lnSpc>
                <a:spcPct val="110000"/>
              </a:lnSpc>
              <a:buNone/>
            </a:pPr>
            <a:r>
              <a:rPr lang="en-US" sz="1500" b="1" dirty="0">
                <a:solidFill>
                  <a:schemeClr val="tx1"/>
                </a:solidFill>
                <a:latin typeface="+mj-lt" pitchFamily="34" charset="0"/>
                <a:ea typeface="+mj-lt" pitchFamily="34" charset="-122"/>
                <a:cs typeface="+mj-lt" pitchFamily="34" charset="-120"/>
              </a:rPr>
              <a:t>Chennai floods 2015</a:t>
            </a:r>
            <a:endParaRPr lang="en-US" sz="1500" dirty="0"/>
          </a:p>
        </p:txBody>
      </p:sp>
      <p:sp>
        <p:nvSpPr>
          <p:cNvPr id="12" name="Shape 9"/>
          <p:cNvSpPr/>
          <p:nvPr/>
        </p:nvSpPr>
        <p:spPr>
          <a:xfrm>
            <a:off x="3225729" y="2171609"/>
            <a:ext cx="2031980" cy="152430"/>
          </a:xfrm>
          <a:prstGeom prst="roundRect">
            <a:avLst>
              <a:gd name="adj" fmla="val 25015"/>
            </a:avLst>
          </a:prstGeom>
          <a:solidFill>
            <a:schemeClr val="accent2"/>
          </a:solidFill>
          <a:ln/>
        </p:spPr>
      </p:sp>
      <p:sp>
        <p:nvSpPr>
          <p:cNvPr id="13" name="Text 10"/>
          <p:cNvSpPr txBox="1"/>
          <p:nvPr/>
        </p:nvSpPr>
        <p:spPr>
          <a:xfrm>
            <a:off x="5333878" y="1981139"/>
            <a:ext cx="571500" cy="533370"/>
          </a:xfrm>
          <a:prstGeom prst="rect">
            <a:avLst/>
          </a:prstGeom>
          <a:noFill/>
          <a:ln/>
        </p:spPr>
        <p:txBody>
          <a:bodyPr wrap="square" lIns="0" tIns="0" rIns="0" bIns="0" rtlCol="0" anchor="ctr"/>
          <a:lstStyle/>
          <a:p>
            <a:pPr algn="l" indent="0" marL="0">
              <a:lnSpc>
                <a:spcPct val="110000"/>
              </a:lnSpc>
              <a:buNone/>
            </a:pPr>
            <a:r>
              <a:rPr lang="en-US" sz="1400" b="1" dirty="0">
                <a:solidFill>
                  <a:schemeClr val="tx1"/>
                </a:solidFill>
              </a:rPr>
              <a:t>94.1</a:t>
            </a:r>
            <a:endParaRPr lang="en-US" sz="1400" dirty="0"/>
          </a:p>
        </p:txBody>
      </p:sp>
      <p:sp>
        <p:nvSpPr>
          <p:cNvPr id="14" name="Text 11"/>
          <p:cNvSpPr txBox="1"/>
          <p:nvPr/>
        </p:nvSpPr>
        <p:spPr>
          <a:xfrm>
            <a:off x="5892668" y="1981139"/>
            <a:ext cx="761970" cy="533370"/>
          </a:xfrm>
          <a:prstGeom prst="rect">
            <a:avLst/>
          </a:prstGeom>
          <a:noFill/>
          <a:ln/>
        </p:spPr>
        <p:txBody>
          <a:bodyPr wrap="square" lIns="0" tIns="0" rIns="0" bIns="0" rtlCol="0" anchor="ctr"/>
          <a:lstStyle/>
          <a:p>
            <a:pPr algn="l" indent="0" marL="0">
              <a:lnSpc>
                <a:spcPct val="110000"/>
              </a:lnSpc>
              <a:buNone/>
            </a:pPr>
            <a:r>
              <a:rPr lang="en-US" sz="1300" b="1" dirty="0">
                <a:solidFill>
                  <a:schemeClr val="accent2"/>
                </a:solidFill>
              </a:rPr>
              <a:t>Severe</a:t>
            </a:r>
            <a:endParaRPr lang="en-US" sz="1300" dirty="0"/>
          </a:p>
        </p:txBody>
      </p:sp>
      <p:sp>
        <p:nvSpPr>
          <p:cNvPr id="15" name="Text 12"/>
          <p:cNvSpPr txBox="1"/>
          <p:nvPr/>
        </p:nvSpPr>
        <p:spPr>
          <a:xfrm>
            <a:off x="6718097" y="1981139"/>
            <a:ext cx="139692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57 (28)</a:t>
            </a:r>
            <a:endParaRPr lang="en-US" sz="1400" dirty="0"/>
          </a:p>
        </p:txBody>
      </p:sp>
      <p:sp>
        <p:nvSpPr>
          <p:cNvPr id="16" name="Text 13"/>
          <p:cNvSpPr txBox="1"/>
          <p:nvPr/>
        </p:nvSpPr>
        <p:spPr>
          <a:xfrm>
            <a:off x="8178576" y="1981139"/>
            <a:ext cx="1270010"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87,060</a:t>
            </a:r>
            <a:endParaRPr lang="en-US" sz="1400" dirty="0"/>
          </a:p>
        </p:txBody>
      </p:sp>
      <p:sp>
        <p:nvSpPr>
          <p:cNvPr id="17" name="Text 14"/>
          <p:cNvSpPr txBox="1"/>
          <p:nvPr/>
        </p:nvSpPr>
        <p:spPr>
          <a:xfrm>
            <a:off x="9537466" y="1981139"/>
            <a:ext cx="184141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1,893 / 219</a:t>
            </a:r>
            <a:endParaRPr lang="en-US" sz="1400" dirty="0"/>
          </a:p>
        </p:txBody>
      </p:sp>
      <p:sp>
        <p:nvSpPr>
          <p:cNvPr id="18" name="Shape 15"/>
          <p:cNvSpPr/>
          <p:nvPr/>
        </p:nvSpPr>
        <p:spPr>
          <a:xfrm>
            <a:off x="812810" y="2514509"/>
            <a:ext cx="10566166" cy="0"/>
          </a:xfrm>
          <a:prstGeom prst="line">
            <a:avLst/>
          </a:prstGeom>
          <a:noFill/>
          <a:ln w="9525">
            <a:solidFill>
              <a:srgbClr val="D7DDD8"/>
            </a:solidFill>
            <a:prstDash val="solid"/>
          </a:ln>
        </p:spPr>
      </p:sp>
      <p:sp>
        <p:nvSpPr>
          <p:cNvPr id="19" name="Text 16"/>
          <p:cNvSpPr txBox="1"/>
          <p:nvPr/>
        </p:nvSpPr>
        <p:spPr>
          <a:xfrm>
            <a:off x="812810" y="2514509"/>
            <a:ext cx="2349459" cy="533370"/>
          </a:xfrm>
          <a:prstGeom prst="rect">
            <a:avLst/>
          </a:prstGeom>
          <a:noFill/>
          <a:ln/>
        </p:spPr>
        <p:txBody>
          <a:bodyPr wrap="square" lIns="0" tIns="0" rIns="0" bIns="0" rtlCol="0" anchor="ctr"/>
          <a:lstStyle/>
          <a:p>
            <a:pPr algn="l" indent="0" marL="0">
              <a:lnSpc>
                <a:spcPct val="110000"/>
              </a:lnSpc>
              <a:buNone/>
            </a:pPr>
            <a:r>
              <a:rPr lang="en-US" sz="1500" b="1" dirty="0">
                <a:solidFill>
                  <a:schemeClr val="tx1"/>
                </a:solidFill>
                <a:latin typeface="+mj-lt" pitchFamily="34" charset="0"/>
                <a:ea typeface="+mj-lt" pitchFamily="34" charset="-122"/>
                <a:cs typeface="+mj-lt" pitchFamily="34" charset="-120"/>
              </a:rPr>
              <a:t>Cyclone Vardah 2016</a:t>
            </a:r>
            <a:endParaRPr lang="en-US" sz="1500" dirty="0"/>
          </a:p>
        </p:txBody>
      </p:sp>
      <p:sp>
        <p:nvSpPr>
          <p:cNvPr id="20" name="Shape 17"/>
          <p:cNvSpPr/>
          <p:nvPr/>
        </p:nvSpPr>
        <p:spPr>
          <a:xfrm>
            <a:off x="3225729" y="2705070"/>
            <a:ext cx="1943009" cy="152430"/>
          </a:xfrm>
          <a:prstGeom prst="roundRect">
            <a:avLst>
              <a:gd name="adj" fmla="val 25015"/>
            </a:avLst>
          </a:prstGeom>
          <a:solidFill>
            <a:schemeClr val="accent2"/>
          </a:solidFill>
          <a:ln/>
        </p:spPr>
      </p:sp>
      <p:sp>
        <p:nvSpPr>
          <p:cNvPr id="21" name="Text 18"/>
          <p:cNvSpPr txBox="1"/>
          <p:nvPr/>
        </p:nvSpPr>
        <p:spPr>
          <a:xfrm>
            <a:off x="5244998" y="2514509"/>
            <a:ext cx="571500" cy="533370"/>
          </a:xfrm>
          <a:prstGeom prst="rect">
            <a:avLst/>
          </a:prstGeom>
          <a:noFill/>
          <a:ln/>
        </p:spPr>
        <p:txBody>
          <a:bodyPr wrap="square" lIns="0" tIns="0" rIns="0" bIns="0" rtlCol="0" anchor="ctr"/>
          <a:lstStyle/>
          <a:p>
            <a:pPr algn="l" indent="0" marL="0">
              <a:lnSpc>
                <a:spcPct val="110000"/>
              </a:lnSpc>
              <a:buNone/>
            </a:pPr>
            <a:r>
              <a:rPr lang="en-US" sz="1400" b="1" dirty="0">
                <a:solidFill>
                  <a:schemeClr val="tx1"/>
                </a:solidFill>
              </a:rPr>
              <a:t>90.1</a:t>
            </a:r>
            <a:endParaRPr lang="en-US" sz="1400" dirty="0"/>
          </a:p>
        </p:txBody>
      </p:sp>
      <p:sp>
        <p:nvSpPr>
          <p:cNvPr id="22" name="Text 19"/>
          <p:cNvSpPr txBox="1"/>
          <p:nvPr/>
        </p:nvSpPr>
        <p:spPr>
          <a:xfrm>
            <a:off x="5892668" y="2514509"/>
            <a:ext cx="761970" cy="533370"/>
          </a:xfrm>
          <a:prstGeom prst="rect">
            <a:avLst/>
          </a:prstGeom>
          <a:noFill/>
          <a:ln/>
        </p:spPr>
        <p:txBody>
          <a:bodyPr wrap="square" lIns="0" tIns="0" rIns="0" bIns="0" rtlCol="0" anchor="ctr"/>
          <a:lstStyle/>
          <a:p>
            <a:pPr algn="l" indent="0" marL="0">
              <a:lnSpc>
                <a:spcPct val="110000"/>
              </a:lnSpc>
              <a:buNone/>
            </a:pPr>
            <a:r>
              <a:rPr lang="en-US" sz="1300" b="1" dirty="0">
                <a:solidFill>
                  <a:schemeClr val="accent2"/>
                </a:solidFill>
              </a:rPr>
              <a:t>Severe</a:t>
            </a:r>
            <a:endParaRPr lang="en-US" sz="1300" dirty="0"/>
          </a:p>
        </p:txBody>
      </p:sp>
      <p:sp>
        <p:nvSpPr>
          <p:cNvPr id="23" name="Text 20"/>
          <p:cNvSpPr txBox="1"/>
          <p:nvPr/>
        </p:nvSpPr>
        <p:spPr>
          <a:xfrm>
            <a:off x="6718097" y="2514509"/>
            <a:ext cx="139692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60 (7)</a:t>
            </a:r>
            <a:endParaRPr lang="en-US" sz="1400" dirty="0"/>
          </a:p>
        </p:txBody>
      </p:sp>
      <p:sp>
        <p:nvSpPr>
          <p:cNvPr id="24" name="Text 21"/>
          <p:cNvSpPr txBox="1"/>
          <p:nvPr/>
        </p:nvSpPr>
        <p:spPr>
          <a:xfrm>
            <a:off x="8178576" y="2514509"/>
            <a:ext cx="1270010"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146,560</a:t>
            </a:r>
            <a:endParaRPr lang="en-US" sz="1400" dirty="0"/>
          </a:p>
        </p:txBody>
      </p:sp>
      <p:sp>
        <p:nvSpPr>
          <p:cNvPr id="25" name="Text 22"/>
          <p:cNvSpPr txBox="1"/>
          <p:nvPr/>
        </p:nvSpPr>
        <p:spPr>
          <a:xfrm>
            <a:off x="9537466" y="2514509"/>
            <a:ext cx="184141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1,537 / 0</a:t>
            </a:r>
            <a:endParaRPr lang="en-US" sz="1400" dirty="0"/>
          </a:p>
        </p:txBody>
      </p:sp>
      <p:sp>
        <p:nvSpPr>
          <p:cNvPr id="26" name="Shape 23"/>
          <p:cNvSpPr/>
          <p:nvPr/>
        </p:nvSpPr>
        <p:spPr>
          <a:xfrm>
            <a:off x="812810" y="3047970"/>
            <a:ext cx="10566166" cy="0"/>
          </a:xfrm>
          <a:prstGeom prst="line">
            <a:avLst/>
          </a:prstGeom>
          <a:noFill/>
          <a:ln w="9525">
            <a:solidFill>
              <a:srgbClr val="D7DDD8"/>
            </a:solidFill>
            <a:prstDash val="solid"/>
          </a:ln>
        </p:spPr>
      </p:sp>
      <p:sp>
        <p:nvSpPr>
          <p:cNvPr id="27" name="Text 24"/>
          <p:cNvSpPr txBox="1"/>
          <p:nvPr/>
        </p:nvSpPr>
        <p:spPr>
          <a:xfrm>
            <a:off x="812810" y="3047970"/>
            <a:ext cx="2349459" cy="533370"/>
          </a:xfrm>
          <a:prstGeom prst="rect">
            <a:avLst/>
          </a:prstGeom>
          <a:noFill/>
          <a:ln/>
        </p:spPr>
        <p:txBody>
          <a:bodyPr wrap="square" lIns="0" tIns="0" rIns="0" bIns="0" rtlCol="0" anchor="ctr"/>
          <a:lstStyle/>
          <a:p>
            <a:pPr algn="l" indent="0" marL="0">
              <a:lnSpc>
                <a:spcPct val="110000"/>
              </a:lnSpc>
              <a:buNone/>
            </a:pPr>
            <a:r>
              <a:rPr lang="en-US" sz="1500" b="1" dirty="0">
                <a:solidFill>
                  <a:schemeClr val="tx1"/>
                </a:solidFill>
                <a:latin typeface="+mj-lt" pitchFamily="34" charset="0"/>
                <a:ea typeface="+mj-lt" pitchFamily="34" charset="-122"/>
                <a:cs typeface="+mj-lt" pitchFamily="34" charset="-120"/>
              </a:rPr>
              <a:t>Cyclone Michaung 2023</a:t>
            </a:r>
            <a:endParaRPr lang="en-US" sz="1500" dirty="0"/>
          </a:p>
        </p:txBody>
      </p:sp>
      <p:sp>
        <p:nvSpPr>
          <p:cNvPr id="28" name="Shape 25"/>
          <p:cNvSpPr/>
          <p:nvPr/>
        </p:nvSpPr>
        <p:spPr>
          <a:xfrm>
            <a:off x="3225729" y="3238439"/>
            <a:ext cx="2082729" cy="152430"/>
          </a:xfrm>
          <a:prstGeom prst="roundRect">
            <a:avLst>
              <a:gd name="adj" fmla="val 25015"/>
            </a:avLst>
          </a:prstGeom>
          <a:solidFill>
            <a:schemeClr val="accent2"/>
          </a:solidFill>
          <a:ln/>
        </p:spPr>
      </p:sp>
      <p:sp>
        <p:nvSpPr>
          <p:cNvPr id="29" name="Text 26"/>
          <p:cNvSpPr txBox="1"/>
          <p:nvPr/>
        </p:nvSpPr>
        <p:spPr>
          <a:xfrm>
            <a:off x="5384627" y="3047970"/>
            <a:ext cx="571500" cy="533370"/>
          </a:xfrm>
          <a:prstGeom prst="rect">
            <a:avLst/>
          </a:prstGeom>
          <a:noFill/>
          <a:ln/>
        </p:spPr>
        <p:txBody>
          <a:bodyPr wrap="square" lIns="0" tIns="0" rIns="0" bIns="0" rtlCol="0" anchor="ctr"/>
          <a:lstStyle/>
          <a:p>
            <a:pPr algn="l" indent="0" marL="0">
              <a:lnSpc>
                <a:spcPct val="110000"/>
              </a:lnSpc>
              <a:buNone/>
            </a:pPr>
            <a:r>
              <a:rPr lang="en-US" sz="1400" b="1" dirty="0">
                <a:solidFill>
                  <a:schemeClr val="tx1"/>
                </a:solidFill>
              </a:rPr>
              <a:t>96.4</a:t>
            </a:r>
            <a:endParaRPr lang="en-US" sz="1400" dirty="0"/>
          </a:p>
        </p:txBody>
      </p:sp>
      <p:sp>
        <p:nvSpPr>
          <p:cNvPr id="30" name="Text 27"/>
          <p:cNvSpPr txBox="1"/>
          <p:nvPr/>
        </p:nvSpPr>
        <p:spPr>
          <a:xfrm>
            <a:off x="5892668" y="3047970"/>
            <a:ext cx="761970" cy="533370"/>
          </a:xfrm>
          <a:prstGeom prst="rect">
            <a:avLst/>
          </a:prstGeom>
          <a:noFill/>
          <a:ln/>
        </p:spPr>
        <p:txBody>
          <a:bodyPr wrap="square" lIns="0" tIns="0" rIns="0" bIns="0" rtlCol="0" anchor="ctr"/>
          <a:lstStyle/>
          <a:p>
            <a:pPr algn="l" indent="0" marL="0">
              <a:lnSpc>
                <a:spcPct val="110000"/>
              </a:lnSpc>
              <a:buNone/>
            </a:pPr>
            <a:r>
              <a:rPr lang="en-US" sz="1300" b="1" dirty="0">
                <a:solidFill>
                  <a:schemeClr val="accent2"/>
                </a:solidFill>
              </a:rPr>
              <a:t>Severe</a:t>
            </a:r>
            <a:endParaRPr lang="en-US" sz="1300" dirty="0"/>
          </a:p>
        </p:txBody>
      </p:sp>
      <p:sp>
        <p:nvSpPr>
          <p:cNvPr id="31" name="Text 28"/>
          <p:cNvSpPr txBox="1"/>
          <p:nvPr/>
        </p:nvSpPr>
        <p:spPr>
          <a:xfrm>
            <a:off x="6718097" y="3047970"/>
            <a:ext cx="139692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60 (25)</a:t>
            </a:r>
            <a:endParaRPr lang="en-US" sz="1400" dirty="0"/>
          </a:p>
        </p:txBody>
      </p:sp>
      <p:sp>
        <p:nvSpPr>
          <p:cNvPr id="32" name="Text 29"/>
          <p:cNvSpPr txBox="1"/>
          <p:nvPr/>
        </p:nvSpPr>
        <p:spPr>
          <a:xfrm>
            <a:off x="8178576" y="3047970"/>
            <a:ext cx="1270010"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118,660</a:t>
            </a:r>
            <a:endParaRPr lang="en-US" sz="1400" dirty="0"/>
          </a:p>
        </p:txBody>
      </p:sp>
      <p:sp>
        <p:nvSpPr>
          <p:cNvPr id="33" name="Text 30"/>
          <p:cNvSpPr txBox="1"/>
          <p:nvPr/>
        </p:nvSpPr>
        <p:spPr>
          <a:xfrm>
            <a:off x="9537466" y="3047970"/>
            <a:ext cx="184141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1,903 / 209</a:t>
            </a:r>
            <a:endParaRPr lang="en-US" sz="1400" dirty="0"/>
          </a:p>
        </p:txBody>
      </p:sp>
      <p:sp>
        <p:nvSpPr>
          <p:cNvPr id="34" name="Shape 31"/>
          <p:cNvSpPr/>
          <p:nvPr/>
        </p:nvSpPr>
        <p:spPr>
          <a:xfrm>
            <a:off x="812810" y="3581339"/>
            <a:ext cx="10566166" cy="0"/>
          </a:xfrm>
          <a:prstGeom prst="line">
            <a:avLst/>
          </a:prstGeom>
          <a:noFill/>
          <a:ln w="9525">
            <a:solidFill>
              <a:srgbClr val="D7DDD8"/>
            </a:solidFill>
            <a:prstDash val="solid"/>
          </a:ln>
        </p:spPr>
      </p:sp>
      <p:sp>
        <p:nvSpPr>
          <p:cNvPr id="35" name="Text 32"/>
          <p:cNvSpPr txBox="1"/>
          <p:nvPr/>
        </p:nvSpPr>
        <p:spPr>
          <a:xfrm>
            <a:off x="812810" y="3581339"/>
            <a:ext cx="2349459" cy="533370"/>
          </a:xfrm>
          <a:prstGeom prst="rect">
            <a:avLst/>
          </a:prstGeom>
          <a:noFill/>
          <a:ln/>
        </p:spPr>
        <p:txBody>
          <a:bodyPr wrap="square" lIns="0" tIns="0" rIns="0" bIns="0" rtlCol="0" anchor="ctr"/>
          <a:lstStyle/>
          <a:p>
            <a:pPr algn="l" indent="0" marL="0">
              <a:lnSpc>
                <a:spcPct val="110000"/>
              </a:lnSpc>
              <a:buNone/>
            </a:pPr>
            <a:r>
              <a:rPr lang="en-US" sz="1500" b="1" dirty="0">
                <a:solidFill>
                  <a:schemeClr val="tx1"/>
                </a:solidFill>
                <a:latin typeface="+mj-lt" pitchFamily="34" charset="0"/>
                <a:ea typeface="+mj-lt" pitchFamily="34" charset="-122"/>
                <a:cs typeface="+mj-lt" pitchFamily="34" charset="-120"/>
              </a:rPr>
              <a:t>Cyclone Fengal 2024</a:t>
            </a:r>
            <a:endParaRPr lang="en-US" sz="1500" dirty="0"/>
          </a:p>
        </p:txBody>
      </p:sp>
      <p:sp>
        <p:nvSpPr>
          <p:cNvPr id="36" name="Shape 33"/>
          <p:cNvSpPr/>
          <p:nvPr/>
        </p:nvSpPr>
        <p:spPr>
          <a:xfrm>
            <a:off x="3225729" y="3771809"/>
            <a:ext cx="1625529" cy="152430"/>
          </a:xfrm>
          <a:prstGeom prst="roundRect">
            <a:avLst>
              <a:gd name="adj" fmla="val 25015"/>
            </a:avLst>
          </a:prstGeom>
          <a:solidFill>
            <a:schemeClr val="accent2"/>
          </a:solidFill>
          <a:ln/>
        </p:spPr>
      </p:sp>
      <p:sp>
        <p:nvSpPr>
          <p:cNvPr id="37" name="Text 34"/>
          <p:cNvSpPr txBox="1"/>
          <p:nvPr/>
        </p:nvSpPr>
        <p:spPr>
          <a:xfrm>
            <a:off x="4927519" y="3581339"/>
            <a:ext cx="571500" cy="533370"/>
          </a:xfrm>
          <a:prstGeom prst="rect">
            <a:avLst/>
          </a:prstGeom>
          <a:noFill/>
          <a:ln/>
        </p:spPr>
        <p:txBody>
          <a:bodyPr wrap="square" lIns="0" tIns="0" rIns="0" bIns="0" rtlCol="0" anchor="ctr"/>
          <a:lstStyle/>
          <a:p>
            <a:pPr algn="l" indent="0" marL="0">
              <a:lnSpc>
                <a:spcPct val="110000"/>
              </a:lnSpc>
              <a:buNone/>
            </a:pPr>
            <a:r>
              <a:rPr lang="en-US" sz="1400" b="1" dirty="0">
                <a:solidFill>
                  <a:schemeClr val="tx1"/>
                </a:solidFill>
              </a:rPr>
              <a:t>75.4</a:t>
            </a:r>
            <a:endParaRPr lang="en-US" sz="1400" dirty="0"/>
          </a:p>
        </p:txBody>
      </p:sp>
      <p:sp>
        <p:nvSpPr>
          <p:cNvPr id="38" name="Text 35"/>
          <p:cNvSpPr txBox="1"/>
          <p:nvPr/>
        </p:nvSpPr>
        <p:spPr>
          <a:xfrm>
            <a:off x="5892668" y="3581339"/>
            <a:ext cx="761970" cy="533370"/>
          </a:xfrm>
          <a:prstGeom prst="rect">
            <a:avLst/>
          </a:prstGeom>
          <a:noFill/>
          <a:ln/>
        </p:spPr>
        <p:txBody>
          <a:bodyPr wrap="square" lIns="0" tIns="0" rIns="0" bIns="0" rtlCol="0" anchor="ctr"/>
          <a:lstStyle/>
          <a:p>
            <a:pPr algn="l" indent="0" marL="0">
              <a:lnSpc>
                <a:spcPct val="110000"/>
              </a:lnSpc>
              <a:buNone/>
            </a:pPr>
            <a:r>
              <a:rPr lang="en-US" sz="1300" b="1" dirty="0">
                <a:solidFill>
                  <a:schemeClr val="accent2"/>
                </a:solidFill>
              </a:rPr>
              <a:t>Severe</a:t>
            </a:r>
            <a:endParaRPr lang="en-US" sz="1300" dirty="0"/>
          </a:p>
        </p:txBody>
      </p:sp>
      <p:sp>
        <p:nvSpPr>
          <p:cNvPr id="39" name="Text 36"/>
          <p:cNvSpPr txBox="1"/>
          <p:nvPr/>
        </p:nvSpPr>
        <p:spPr>
          <a:xfrm>
            <a:off x="6718097" y="3581339"/>
            <a:ext cx="139692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60 (0)</a:t>
            </a:r>
            <a:endParaRPr lang="en-US" sz="1400" dirty="0"/>
          </a:p>
        </p:txBody>
      </p:sp>
      <p:sp>
        <p:nvSpPr>
          <p:cNvPr id="40" name="Text 37"/>
          <p:cNvSpPr txBox="1"/>
          <p:nvPr/>
        </p:nvSpPr>
        <p:spPr>
          <a:xfrm>
            <a:off x="8178576" y="3581339"/>
            <a:ext cx="1270010"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55,090</a:t>
            </a:r>
            <a:endParaRPr lang="en-US" sz="1400" dirty="0"/>
          </a:p>
        </p:txBody>
      </p:sp>
      <p:sp>
        <p:nvSpPr>
          <p:cNvPr id="41" name="Text 38"/>
          <p:cNvSpPr txBox="1"/>
          <p:nvPr/>
        </p:nvSpPr>
        <p:spPr>
          <a:xfrm>
            <a:off x="9537466" y="3581339"/>
            <a:ext cx="184141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2,112 / 0</a:t>
            </a:r>
            <a:endParaRPr lang="en-US" sz="1400" dirty="0"/>
          </a:p>
        </p:txBody>
      </p:sp>
      <p:sp>
        <p:nvSpPr>
          <p:cNvPr id="42" name="Shape 39"/>
          <p:cNvSpPr/>
          <p:nvPr/>
        </p:nvSpPr>
        <p:spPr>
          <a:xfrm>
            <a:off x="812810" y="4114709"/>
            <a:ext cx="10566166" cy="0"/>
          </a:xfrm>
          <a:prstGeom prst="line">
            <a:avLst/>
          </a:prstGeom>
          <a:noFill/>
          <a:ln w="9525">
            <a:solidFill>
              <a:srgbClr val="D7DDD8"/>
            </a:solidFill>
            <a:prstDash val="solid"/>
          </a:ln>
        </p:spPr>
      </p:sp>
      <p:sp>
        <p:nvSpPr>
          <p:cNvPr id="43" name="Text 40"/>
          <p:cNvSpPr txBox="1"/>
          <p:nvPr/>
        </p:nvSpPr>
        <p:spPr>
          <a:xfrm>
            <a:off x="812810" y="4114709"/>
            <a:ext cx="2349459" cy="533370"/>
          </a:xfrm>
          <a:prstGeom prst="rect">
            <a:avLst/>
          </a:prstGeom>
          <a:noFill/>
          <a:ln/>
        </p:spPr>
        <p:txBody>
          <a:bodyPr wrap="square" lIns="0" tIns="0" rIns="0" bIns="0" rtlCol="0" anchor="ctr"/>
          <a:lstStyle/>
          <a:p>
            <a:pPr algn="l" indent="0" marL="0">
              <a:lnSpc>
                <a:spcPct val="110000"/>
              </a:lnSpc>
              <a:buNone/>
            </a:pPr>
            <a:r>
              <a:rPr lang="en-US" sz="1500" b="1" dirty="0">
                <a:solidFill>
                  <a:schemeClr val="tx1"/>
                </a:solidFill>
                <a:latin typeface="+mj-lt" pitchFamily="34" charset="0"/>
                <a:ea typeface="+mj-lt" pitchFamily="34" charset="-122"/>
                <a:cs typeface="+mj-lt" pitchFamily="34" charset="-120"/>
              </a:rPr>
              <a:t>Cyclone drill</a:t>
            </a:r>
            <a:endParaRPr lang="en-US" sz="1500" dirty="0"/>
          </a:p>
        </p:txBody>
      </p:sp>
      <p:sp>
        <p:nvSpPr>
          <p:cNvPr id="44" name="Shape 41"/>
          <p:cNvSpPr/>
          <p:nvPr/>
        </p:nvSpPr>
        <p:spPr>
          <a:xfrm>
            <a:off x="3225729" y="4305178"/>
            <a:ext cx="2044690" cy="152430"/>
          </a:xfrm>
          <a:prstGeom prst="roundRect">
            <a:avLst>
              <a:gd name="adj" fmla="val 25015"/>
            </a:avLst>
          </a:prstGeom>
          <a:solidFill>
            <a:schemeClr val="accent2"/>
          </a:solidFill>
          <a:ln/>
        </p:spPr>
      </p:sp>
      <p:sp>
        <p:nvSpPr>
          <p:cNvPr id="45" name="Text 42"/>
          <p:cNvSpPr txBox="1"/>
          <p:nvPr/>
        </p:nvSpPr>
        <p:spPr>
          <a:xfrm>
            <a:off x="5346588" y="4114709"/>
            <a:ext cx="571500" cy="533370"/>
          </a:xfrm>
          <a:prstGeom prst="rect">
            <a:avLst/>
          </a:prstGeom>
          <a:noFill/>
          <a:ln/>
        </p:spPr>
        <p:txBody>
          <a:bodyPr wrap="square" lIns="0" tIns="0" rIns="0" bIns="0" rtlCol="0" anchor="ctr"/>
          <a:lstStyle/>
          <a:p>
            <a:pPr algn="l" indent="0" marL="0">
              <a:lnSpc>
                <a:spcPct val="110000"/>
              </a:lnSpc>
              <a:buNone/>
            </a:pPr>
            <a:r>
              <a:rPr lang="en-US" sz="1400" b="1" dirty="0">
                <a:solidFill>
                  <a:schemeClr val="tx1"/>
                </a:solidFill>
              </a:rPr>
              <a:t>94.7</a:t>
            </a:r>
            <a:endParaRPr lang="en-US" sz="1400" dirty="0"/>
          </a:p>
        </p:txBody>
      </p:sp>
      <p:sp>
        <p:nvSpPr>
          <p:cNvPr id="46" name="Text 43"/>
          <p:cNvSpPr txBox="1"/>
          <p:nvPr/>
        </p:nvSpPr>
        <p:spPr>
          <a:xfrm>
            <a:off x="5892668" y="4114709"/>
            <a:ext cx="761970" cy="533370"/>
          </a:xfrm>
          <a:prstGeom prst="rect">
            <a:avLst/>
          </a:prstGeom>
          <a:noFill/>
          <a:ln/>
        </p:spPr>
        <p:txBody>
          <a:bodyPr wrap="square" lIns="0" tIns="0" rIns="0" bIns="0" rtlCol="0" anchor="ctr"/>
          <a:lstStyle/>
          <a:p>
            <a:pPr algn="l" indent="0" marL="0">
              <a:lnSpc>
                <a:spcPct val="110000"/>
              </a:lnSpc>
              <a:buNone/>
            </a:pPr>
            <a:r>
              <a:rPr lang="en-US" sz="1300" b="1" dirty="0">
                <a:solidFill>
                  <a:schemeClr val="accent2"/>
                </a:solidFill>
              </a:rPr>
              <a:t>Severe</a:t>
            </a:r>
            <a:endParaRPr lang="en-US" sz="1300" dirty="0"/>
          </a:p>
        </p:txBody>
      </p:sp>
      <p:sp>
        <p:nvSpPr>
          <p:cNvPr id="47" name="Text 44"/>
          <p:cNvSpPr txBox="1"/>
          <p:nvPr/>
        </p:nvSpPr>
        <p:spPr>
          <a:xfrm>
            <a:off x="6718097" y="4114709"/>
            <a:ext cx="139692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60 (13)</a:t>
            </a:r>
            <a:endParaRPr lang="en-US" sz="1400" dirty="0"/>
          </a:p>
        </p:txBody>
      </p:sp>
      <p:sp>
        <p:nvSpPr>
          <p:cNvPr id="48" name="Text 45"/>
          <p:cNvSpPr txBox="1"/>
          <p:nvPr/>
        </p:nvSpPr>
        <p:spPr>
          <a:xfrm>
            <a:off x="8178576" y="4114709"/>
            <a:ext cx="1270010"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198,370</a:t>
            </a:r>
            <a:endParaRPr lang="en-US" sz="1400" dirty="0"/>
          </a:p>
        </p:txBody>
      </p:sp>
      <p:sp>
        <p:nvSpPr>
          <p:cNvPr id="49" name="Text 46"/>
          <p:cNvSpPr txBox="1"/>
          <p:nvPr/>
        </p:nvSpPr>
        <p:spPr>
          <a:xfrm>
            <a:off x="9537466" y="4114709"/>
            <a:ext cx="184141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2,112 / 0</a:t>
            </a:r>
            <a:endParaRPr lang="en-US" sz="1400" dirty="0"/>
          </a:p>
        </p:txBody>
      </p:sp>
      <p:sp>
        <p:nvSpPr>
          <p:cNvPr id="50" name="Shape 47"/>
          <p:cNvSpPr/>
          <p:nvPr/>
        </p:nvSpPr>
        <p:spPr>
          <a:xfrm>
            <a:off x="812810" y="4648078"/>
            <a:ext cx="10566166" cy="0"/>
          </a:xfrm>
          <a:prstGeom prst="line">
            <a:avLst/>
          </a:prstGeom>
          <a:noFill/>
          <a:ln w="9525">
            <a:solidFill>
              <a:srgbClr val="D7DDD8"/>
            </a:solidFill>
            <a:prstDash val="solid"/>
          </a:ln>
        </p:spPr>
      </p:sp>
      <p:sp>
        <p:nvSpPr>
          <p:cNvPr id="51" name="Text 48"/>
          <p:cNvSpPr txBox="1"/>
          <p:nvPr/>
        </p:nvSpPr>
        <p:spPr>
          <a:xfrm>
            <a:off x="812810" y="4648078"/>
            <a:ext cx="2349459" cy="533370"/>
          </a:xfrm>
          <a:prstGeom prst="rect">
            <a:avLst/>
          </a:prstGeom>
          <a:noFill/>
          <a:ln/>
        </p:spPr>
        <p:txBody>
          <a:bodyPr wrap="square" lIns="0" tIns="0" rIns="0" bIns="0" rtlCol="0" anchor="ctr"/>
          <a:lstStyle/>
          <a:p>
            <a:pPr algn="l" indent="0" marL="0">
              <a:lnSpc>
                <a:spcPct val="110000"/>
              </a:lnSpc>
              <a:buNone/>
            </a:pPr>
            <a:r>
              <a:rPr lang="en-US" sz="1500" b="1" dirty="0">
                <a:solidFill>
                  <a:schemeClr val="tx1"/>
                </a:solidFill>
                <a:latin typeface="+mj-lt" pitchFamily="34" charset="0"/>
                <a:ea typeface="+mj-lt" pitchFamily="34" charset="-122"/>
                <a:cs typeface="+mj-lt" pitchFamily="34" charset="-120"/>
              </a:rPr>
              <a:t>Quake M6.6 drill</a:t>
            </a:r>
            <a:endParaRPr lang="en-US" sz="1500" dirty="0"/>
          </a:p>
        </p:txBody>
      </p:sp>
      <p:sp>
        <p:nvSpPr>
          <p:cNvPr id="52" name="Shape 49"/>
          <p:cNvSpPr/>
          <p:nvPr/>
        </p:nvSpPr>
        <p:spPr>
          <a:xfrm>
            <a:off x="3225729" y="4838548"/>
            <a:ext cx="1377909" cy="152430"/>
          </a:xfrm>
          <a:prstGeom prst="roundRect">
            <a:avLst>
              <a:gd name="adj" fmla="val 25015"/>
            </a:avLst>
          </a:prstGeom>
          <a:solidFill>
            <a:schemeClr val="accent6"/>
          </a:solidFill>
          <a:ln/>
        </p:spPr>
      </p:sp>
      <p:sp>
        <p:nvSpPr>
          <p:cNvPr id="53" name="Text 50"/>
          <p:cNvSpPr txBox="1"/>
          <p:nvPr/>
        </p:nvSpPr>
        <p:spPr>
          <a:xfrm>
            <a:off x="4679808" y="4648078"/>
            <a:ext cx="571500" cy="533370"/>
          </a:xfrm>
          <a:prstGeom prst="rect">
            <a:avLst/>
          </a:prstGeom>
          <a:noFill/>
          <a:ln/>
        </p:spPr>
        <p:txBody>
          <a:bodyPr wrap="square" lIns="0" tIns="0" rIns="0" bIns="0" rtlCol="0" anchor="ctr"/>
          <a:lstStyle/>
          <a:p>
            <a:pPr algn="l" indent="0" marL="0">
              <a:lnSpc>
                <a:spcPct val="110000"/>
              </a:lnSpc>
              <a:buNone/>
            </a:pPr>
            <a:r>
              <a:rPr lang="en-US" sz="1400" b="1" dirty="0">
                <a:solidFill>
                  <a:schemeClr val="tx1"/>
                </a:solidFill>
              </a:rPr>
              <a:t>63.7</a:t>
            </a:r>
            <a:endParaRPr lang="en-US" sz="1400" dirty="0"/>
          </a:p>
        </p:txBody>
      </p:sp>
      <p:sp>
        <p:nvSpPr>
          <p:cNvPr id="54" name="Text 51"/>
          <p:cNvSpPr txBox="1"/>
          <p:nvPr/>
        </p:nvSpPr>
        <p:spPr>
          <a:xfrm>
            <a:off x="5892668" y="4648078"/>
            <a:ext cx="761970" cy="533370"/>
          </a:xfrm>
          <a:prstGeom prst="rect">
            <a:avLst/>
          </a:prstGeom>
          <a:noFill/>
          <a:ln/>
        </p:spPr>
        <p:txBody>
          <a:bodyPr wrap="square" lIns="0" tIns="0" rIns="0" bIns="0" rtlCol="0" anchor="ctr"/>
          <a:lstStyle/>
          <a:p>
            <a:pPr algn="l" indent="0" marL="0">
              <a:lnSpc>
                <a:spcPct val="110000"/>
              </a:lnSpc>
              <a:buNone/>
            </a:pPr>
            <a:r>
              <a:rPr lang="en-US" sz="1300" b="1" dirty="0">
                <a:solidFill>
                  <a:srgbClr val="A8590F"/>
                </a:solidFill>
              </a:rPr>
              <a:t>High</a:t>
            </a:r>
            <a:endParaRPr lang="en-US" sz="1300" dirty="0"/>
          </a:p>
        </p:txBody>
      </p:sp>
      <p:sp>
        <p:nvSpPr>
          <p:cNvPr id="55" name="Text 52"/>
          <p:cNvSpPr txBox="1"/>
          <p:nvPr/>
        </p:nvSpPr>
        <p:spPr>
          <a:xfrm>
            <a:off x="6718097" y="4648078"/>
            <a:ext cx="139692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19 (0)</a:t>
            </a:r>
            <a:endParaRPr lang="en-US" sz="1400" dirty="0"/>
          </a:p>
        </p:txBody>
      </p:sp>
      <p:sp>
        <p:nvSpPr>
          <p:cNvPr id="56" name="Text 53"/>
          <p:cNvSpPr txBox="1"/>
          <p:nvPr/>
        </p:nvSpPr>
        <p:spPr>
          <a:xfrm>
            <a:off x="8178576" y="4648078"/>
            <a:ext cx="1270010"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138,200</a:t>
            </a:r>
            <a:endParaRPr lang="en-US" sz="1400" dirty="0"/>
          </a:p>
        </p:txBody>
      </p:sp>
      <p:sp>
        <p:nvSpPr>
          <p:cNvPr id="57" name="Text 54"/>
          <p:cNvSpPr txBox="1"/>
          <p:nvPr/>
        </p:nvSpPr>
        <p:spPr>
          <a:xfrm>
            <a:off x="9537466" y="4648078"/>
            <a:ext cx="1841419" cy="53337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0 / 0</a:t>
            </a:r>
            <a:endParaRPr lang="en-US" sz="1400" dirty="0"/>
          </a:p>
        </p:txBody>
      </p:sp>
      <p:sp>
        <p:nvSpPr>
          <p:cNvPr id="58" name="Shape 55"/>
          <p:cNvSpPr/>
          <p:nvPr/>
        </p:nvSpPr>
        <p:spPr>
          <a:xfrm>
            <a:off x="812810" y="5181448"/>
            <a:ext cx="10566166" cy="0"/>
          </a:xfrm>
          <a:prstGeom prst="line">
            <a:avLst/>
          </a:prstGeom>
          <a:noFill/>
          <a:ln w="9525">
            <a:solidFill>
              <a:srgbClr val="D7DDD8"/>
            </a:solidFill>
            <a:prstDash val="solid"/>
          </a:ln>
        </p:spPr>
      </p:sp>
      <p:sp>
        <p:nvSpPr>
          <p:cNvPr id="59" name="Text 56"/>
          <p:cNvSpPr txBox="1"/>
          <p:nvPr/>
        </p:nvSpPr>
        <p:spPr>
          <a:xfrm>
            <a:off x="812810" y="5308458"/>
            <a:ext cx="10566166" cy="228600"/>
          </a:xfrm>
          <a:prstGeom prst="rect">
            <a:avLst/>
          </a:prstGeom>
          <a:noFill/>
          <a:ln/>
        </p:spPr>
        <p:txBody>
          <a:bodyPr wrap="square" lIns="0" tIns="0" rIns="0" bIns="0" rtlCol="0" anchor="t"/>
          <a:lstStyle/>
          <a:p>
            <a:pPr algn="l" indent="0" marL="0">
              <a:lnSpc>
                <a:spcPct val="110000"/>
              </a:lnSpc>
              <a:buNone/>
            </a:pPr>
            <a:r>
              <a:rPr lang="en-US" sz="1200" dirty="0">
                <a:solidFill>
                  <a:srgbClr val="4A5865"/>
                </a:solidFill>
              </a:rPr>
              <a:t>The four past events replay rain and wind figures held in the app; the two drills are scenarios. Plans cover at most 60 areas.</a:t>
            </a:r>
            <a:endParaRPr lang="en-US" sz="12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Roads slow or close as flooding rises</a:t>
            </a:r>
            <a:endParaRPr lang="en-US" sz="3600" dirty="0"/>
          </a:p>
        </p:txBody>
      </p:sp>
      <p:sp>
        <p:nvSpPr>
          <p:cNvPr id="4" name="Text 1"/>
          <p:cNvSpPr txBox="1"/>
          <p:nvPr/>
        </p:nvSpPr>
        <p:spPr>
          <a:xfrm>
            <a:off x="812810" y="1619220"/>
            <a:ext cx="3314609" cy="952439"/>
          </a:xfrm>
          <a:prstGeom prst="rect">
            <a:avLst/>
          </a:prstGeom>
          <a:noFill/>
          <a:ln/>
        </p:spPr>
        <p:txBody>
          <a:bodyPr wrap="square" lIns="0" tIns="0" rIns="0" bIns="0" rtlCol="0" anchor="t"/>
          <a:lstStyle/>
          <a:p>
            <a:pPr algn="l" indent="0" marL="0">
              <a:lnSpc>
                <a:spcPct val="100000"/>
              </a:lnSpc>
              <a:buNone/>
            </a:pPr>
            <a:r>
              <a:rPr lang="en-US" sz="6400" b="1" dirty="0">
                <a:solidFill>
                  <a:schemeClr val="accent1"/>
                </a:solidFill>
                <a:latin typeface="+mj-lt" pitchFamily="34" charset="0"/>
                <a:ea typeface="+mj-lt" pitchFamily="34" charset="-122"/>
                <a:cs typeface="+mj-lt" pitchFamily="34" charset="-120"/>
              </a:rPr>
              <a:t>8,044</a:t>
            </a:r>
            <a:endParaRPr lang="en-US" sz="6400" dirty="0"/>
          </a:p>
        </p:txBody>
      </p:sp>
      <p:sp>
        <p:nvSpPr>
          <p:cNvPr id="5" name="Text 2"/>
          <p:cNvSpPr txBox="1"/>
          <p:nvPr/>
        </p:nvSpPr>
        <p:spPr>
          <a:xfrm>
            <a:off x="812810" y="2666939"/>
            <a:ext cx="3047970" cy="53337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junctions in the road graph</a:t>
            </a:r>
            <a:endParaRPr lang="en-US" sz="1400" dirty="0"/>
          </a:p>
        </p:txBody>
      </p:sp>
      <p:sp>
        <p:nvSpPr>
          <p:cNvPr id="6" name="Text 3"/>
          <p:cNvSpPr txBox="1"/>
          <p:nvPr/>
        </p:nvSpPr>
        <p:spPr>
          <a:xfrm>
            <a:off x="4436486" y="1619220"/>
            <a:ext cx="3314609" cy="952439"/>
          </a:xfrm>
          <a:prstGeom prst="rect">
            <a:avLst/>
          </a:prstGeom>
          <a:noFill/>
          <a:ln/>
        </p:spPr>
        <p:txBody>
          <a:bodyPr wrap="square" lIns="0" tIns="0" rIns="0" bIns="0" rtlCol="0" anchor="t"/>
          <a:lstStyle/>
          <a:p>
            <a:pPr algn="l" indent="0" marL="0">
              <a:lnSpc>
                <a:spcPct val="100000"/>
              </a:lnSpc>
              <a:buNone/>
            </a:pPr>
            <a:r>
              <a:rPr lang="en-US" sz="6400" b="1" dirty="0">
                <a:solidFill>
                  <a:schemeClr val="accent1"/>
                </a:solidFill>
                <a:latin typeface="+mj-lt" pitchFamily="34" charset="0"/>
                <a:ea typeface="+mj-lt" pitchFamily="34" charset="-122"/>
                <a:cs typeface="+mj-lt" pitchFamily="34" charset="-120"/>
              </a:rPr>
              <a:t>10,474</a:t>
            </a:r>
            <a:endParaRPr lang="en-US" sz="6400" dirty="0"/>
          </a:p>
        </p:txBody>
      </p:sp>
      <p:sp>
        <p:nvSpPr>
          <p:cNvPr id="7" name="Text 4"/>
          <p:cNvSpPr txBox="1"/>
          <p:nvPr/>
        </p:nvSpPr>
        <p:spPr>
          <a:xfrm>
            <a:off x="4436486" y="2666939"/>
            <a:ext cx="3047970" cy="53337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road segments from OpenStreetMap</a:t>
            </a:r>
            <a:endParaRPr lang="en-US" sz="1400" dirty="0"/>
          </a:p>
        </p:txBody>
      </p:sp>
      <p:sp>
        <p:nvSpPr>
          <p:cNvPr id="8" name="Text 5"/>
          <p:cNvSpPr txBox="1"/>
          <p:nvPr/>
        </p:nvSpPr>
        <p:spPr>
          <a:xfrm>
            <a:off x="8060070" y="1619220"/>
            <a:ext cx="3314609" cy="952439"/>
          </a:xfrm>
          <a:prstGeom prst="rect">
            <a:avLst/>
          </a:prstGeom>
          <a:noFill/>
          <a:ln/>
        </p:spPr>
        <p:txBody>
          <a:bodyPr wrap="square" lIns="0" tIns="0" rIns="0" bIns="0" rtlCol="0" anchor="t"/>
          <a:lstStyle/>
          <a:p>
            <a:pPr algn="l" indent="0" marL="0">
              <a:lnSpc>
                <a:spcPct val="100000"/>
              </a:lnSpc>
              <a:buNone/>
            </a:pPr>
            <a:r>
              <a:rPr lang="en-US" sz="6400" b="1" dirty="0">
                <a:solidFill>
                  <a:schemeClr val="accent1"/>
                </a:solidFill>
                <a:latin typeface="+mj-lt" pitchFamily="34" charset="0"/>
                <a:ea typeface="+mj-lt" pitchFamily="34" charset="-122"/>
                <a:cs typeface="+mj-lt" pitchFamily="34" charset="-120"/>
              </a:rPr>
              <a:t>95.9%</a:t>
            </a:r>
            <a:endParaRPr lang="en-US" sz="6400" dirty="0"/>
          </a:p>
        </p:txBody>
      </p:sp>
      <p:sp>
        <p:nvSpPr>
          <p:cNvPr id="9" name="Text 6"/>
          <p:cNvSpPr txBox="1"/>
          <p:nvPr/>
        </p:nvSpPr>
        <p:spPr>
          <a:xfrm>
            <a:off x="8060070" y="2666939"/>
            <a:ext cx="3047970" cy="53337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of junctions are in one connected network (153 pieces in all)</a:t>
            </a:r>
            <a:endParaRPr lang="en-US" sz="1400" dirty="0"/>
          </a:p>
        </p:txBody>
      </p:sp>
      <p:sp>
        <p:nvSpPr>
          <p:cNvPr id="10" name="Shape 7"/>
          <p:cNvSpPr/>
          <p:nvPr/>
        </p:nvSpPr>
        <p:spPr>
          <a:xfrm>
            <a:off x="812810" y="3428909"/>
            <a:ext cx="5181448" cy="2158990"/>
          </a:xfrm>
          <a:prstGeom prst="roundRect">
            <a:avLst>
              <a:gd name="adj" fmla="val 5883"/>
            </a:avLst>
          </a:prstGeom>
          <a:solidFill>
            <a:schemeClr val="bg2"/>
          </a:solidFill>
          <a:ln w="9525">
            <a:solidFill>
              <a:srgbClr val="D7DDD8"/>
            </a:solidFill>
            <a:prstDash val="solid"/>
          </a:ln>
        </p:spPr>
      </p:sp>
      <p:sp>
        <p:nvSpPr>
          <p:cNvPr id="11" name="Text 8"/>
          <p:cNvSpPr txBox="1"/>
          <p:nvPr/>
        </p:nvSpPr>
        <p:spPr>
          <a:xfrm>
            <a:off x="1041410" y="3657509"/>
            <a:ext cx="4724248" cy="304770"/>
          </a:xfrm>
          <a:prstGeom prst="rect">
            <a:avLst/>
          </a:prstGeom>
          <a:noFill/>
          <a:ln/>
        </p:spPr>
        <p:txBody>
          <a:bodyPr wrap="square" lIns="0" tIns="0" rIns="0" bIns="0" rtlCol="0" anchor="t"/>
          <a:lstStyle/>
          <a:p>
            <a:pPr algn="l" indent="0" marL="0">
              <a:lnSpc>
                <a:spcPct val="110000"/>
              </a:lnSpc>
              <a:buNone/>
            </a:pPr>
            <a:r>
              <a:rPr lang="en-US" sz="1800" b="1" dirty="0">
                <a:solidFill>
                  <a:schemeClr val="tx1"/>
                </a:solidFill>
                <a:latin typeface="+mj-lt" pitchFamily="34" charset="0"/>
                <a:ea typeface="+mj-lt" pitchFamily="34" charset="-122"/>
                <a:cs typeface="+mj-lt" pitchFamily="34" charset="-120"/>
              </a:rPr>
              <a:t>How flooding changes a road</a:t>
            </a:r>
            <a:endParaRPr lang="en-US" sz="1800" dirty="0"/>
          </a:p>
        </p:txBody>
      </p:sp>
      <p:sp>
        <p:nvSpPr>
          <p:cNvPr id="12" name="Text 9"/>
          <p:cNvSpPr txBox="1"/>
          <p:nvPr/>
        </p:nvSpPr>
        <p:spPr>
          <a:xfrm>
            <a:off x="1041410" y="4063868"/>
            <a:ext cx="4724248" cy="507949"/>
          </a:xfrm>
          <a:prstGeom prst="rect">
            <a:avLst/>
          </a:prstGeom>
          <a:noFill/>
          <a:ln/>
        </p:spPr>
        <p:txBody>
          <a:bodyPr wrap="square" lIns="0" tIns="0" rIns="0" bIns="0" rtlCol="0" anchor="t"/>
          <a:lstStyle/>
          <a:p>
            <a:pPr algn="l" indent="0" marL="0">
              <a:lnSpc>
                <a:spcPct val="110000"/>
              </a:lnSpc>
              <a:buNone/>
            </a:pPr>
            <a:r>
              <a:rPr lang="en-US" sz="1500" b="1" dirty="0">
                <a:solidFill>
                  <a:srgbClr val="4A5865"/>
                </a:solidFill>
              </a:rPr>
              <a:t>Slows. </a:t>
            </a:r>
            <a:pPr algn="l" indent="0" marL="0">
              <a:lnSpc>
                <a:spcPct val="110000"/>
              </a:lnSpc>
              <a:buNone/>
            </a:pPr>
            <a:r>
              <a:rPr lang="en-US" sz="1500" dirty="0">
                <a:solidFill>
                  <a:srgbClr val="4A5865"/>
                </a:solidFill>
              </a:rPr>
              <a:t>Near an intense hotspot a road keeps as little as 18% of its normal speed.</a:t>
            </a:r>
            <a:endParaRPr lang="en-US" sz="1500" dirty="0"/>
          </a:p>
        </p:txBody>
      </p:sp>
      <p:sp>
        <p:nvSpPr>
          <p:cNvPr id="13" name="Text 10"/>
          <p:cNvSpPr txBox="1"/>
          <p:nvPr/>
        </p:nvSpPr>
        <p:spPr>
          <a:xfrm>
            <a:off x="1041410" y="4635368"/>
            <a:ext cx="4724248" cy="761970"/>
          </a:xfrm>
          <a:prstGeom prst="rect">
            <a:avLst/>
          </a:prstGeom>
          <a:noFill/>
          <a:ln/>
        </p:spPr>
        <p:txBody>
          <a:bodyPr wrap="square" lIns="0" tIns="0" rIns="0" bIns="0" rtlCol="0" anchor="t"/>
          <a:lstStyle/>
          <a:p>
            <a:pPr algn="l" indent="0" marL="0">
              <a:lnSpc>
                <a:spcPct val="110000"/>
              </a:lnSpc>
              <a:buNone/>
            </a:pPr>
            <a:r>
              <a:rPr lang="en-US" sz="1500" b="1" dirty="0">
                <a:solidFill>
                  <a:srgbClr val="4A5865"/>
                </a:solidFill>
              </a:rPr>
              <a:t>Closes. </a:t>
            </a:r>
            <a:pPr algn="l" indent="0" marL="0">
              <a:lnSpc>
                <a:spcPct val="110000"/>
              </a:lnSpc>
              <a:buNone/>
            </a:pPr>
            <a:r>
              <a:rPr lang="en-US" sz="1500" dirty="0">
                <a:solidFill>
                  <a:srgbClr val="4A5865"/>
                </a:solidFill>
              </a:rPr>
              <a:t>A minor road closes when a severity-3 hotspot reaches intensity 0.82 and the road lies within 65% of its radius.</a:t>
            </a:r>
            <a:endParaRPr lang="en-US" sz="1500" dirty="0"/>
          </a:p>
        </p:txBody>
      </p:sp>
      <p:sp>
        <p:nvSpPr>
          <p:cNvPr id="14" name="Shape 11"/>
          <p:cNvSpPr/>
          <p:nvPr/>
        </p:nvSpPr>
        <p:spPr>
          <a:xfrm>
            <a:off x="6197437" y="3428909"/>
            <a:ext cx="5181448" cy="2158990"/>
          </a:xfrm>
          <a:prstGeom prst="roundRect">
            <a:avLst>
              <a:gd name="adj" fmla="val 5883"/>
            </a:avLst>
          </a:prstGeom>
          <a:solidFill>
            <a:schemeClr val="bg2"/>
          </a:solidFill>
          <a:ln w="9525">
            <a:solidFill>
              <a:srgbClr val="D7DDD8"/>
            </a:solidFill>
            <a:prstDash val="solid"/>
          </a:ln>
        </p:spPr>
      </p:sp>
      <p:sp>
        <p:nvSpPr>
          <p:cNvPr id="15" name="Text 12"/>
          <p:cNvSpPr txBox="1"/>
          <p:nvPr/>
        </p:nvSpPr>
        <p:spPr>
          <a:xfrm>
            <a:off x="6426037" y="3657509"/>
            <a:ext cx="4724248" cy="304770"/>
          </a:xfrm>
          <a:prstGeom prst="rect">
            <a:avLst/>
          </a:prstGeom>
          <a:noFill/>
          <a:ln/>
        </p:spPr>
        <p:txBody>
          <a:bodyPr wrap="square" lIns="0" tIns="0" rIns="0" bIns="0" rtlCol="0" anchor="t"/>
          <a:lstStyle/>
          <a:p>
            <a:pPr algn="l" indent="0" marL="0">
              <a:lnSpc>
                <a:spcPct val="110000"/>
              </a:lnSpc>
              <a:buNone/>
            </a:pPr>
            <a:r>
              <a:rPr lang="en-US" sz="1800" b="1" dirty="0">
                <a:solidFill>
                  <a:schemeClr val="tx1"/>
                </a:solidFill>
                <a:latin typeface="+mj-lt" pitchFamily="34" charset="0"/>
                <a:ea typeface="+mj-lt" pitchFamily="34" charset="-122"/>
                <a:cs typeface="+mj-lt" pitchFamily="34" charset="-120"/>
              </a:rPr>
              <a:t>How A* finds the route</a:t>
            </a:r>
            <a:endParaRPr lang="en-US" sz="1800" dirty="0"/>
          </a:p>
        </p:txBody>
      </p:sp>
      <p:sp>
        <p:nvSpPr>
          <p:cNvPr id="16" name="Text 13"/>
          <p:cNvSpPr txBox="1"/>
          <p:nvPr/>
        </p:nvSpPr>
        <p:spPr>
          <a:xfrm>
            <a:off x="6426037" y="4063868"/>
            <a:ext cx="4724248" cy="761970"/>
          </a:xfrm>
          <a:prstGeom prst="rect">
            <a:avLst/>
          </a:prstGeom>
          <a:noFill/>
          <a:ln/>
        </p:spPr>
        <p:txBody>
          <a:bodyPr wrap="square" lIns="0" tIns="0" rIns="0" bIns="0" rtlCol="0" anchor="t"/>
          <a:lstStyle/>
          <a:p>
            <a:pPr algn="l" indent="0" marL="0">
              <a:lnSpc>
                <a:spcPct val="110000"/>
              </a:lnSpc>
              <a:buNone/>
            </a:pPr>
            <a:r>
              <a:rPr lang="en-US" sz="1500" b="1" dirty="0">
                <a:solidFill>
                  <a:srgbClr val="4A5865"/>
                </a:solidFill>
              </a:rPr>
              <a:t>Heuristic. </a:t>
            </a:r>
            <a:pPr algn="l" indent="0" marL="0">
              <a:lnSpc>
                <a:spcPct val="110000"/>
              </a:lnSpc>
              <a:buNone/>
            </a:pPr>
            <a:r>
              <a:rPr lang="en-US" sz="1500" dirty="0">
                <a:solidFill>
                  <a:srgbClr val="4A5865"/>
                </a:solidFill>
              </a:rPr>
              <a:t>Straight-line distance divided by the fastest road speed. It never overestimates, so A* returns the cheapest route.</a:t>
            </a:r>
            <a:endParaRPr lang="en-US" sz="1500" dirty="0"/>
          </a:p>
        </p:txBody>
      </p:sp>
      <p:sp>
        <p:nvSpPr>
          <p:cNvPr id="17" name="Text 14"/>
          <p:cNvSpPr txBox="1"/>
          <p:nvPr/>
        </p:nvSpPr>
        <p:spPr>
          <a:xfrm>
            <a:off x="6426037" y="4952848"/>
            <a:ext cx="4724248" cy="507949"/>
          </a:xfrm>
          <a:prstGeom prst="rect">
            <a:avLst/>
          </a:prstGeom>
          <a:noFill/>
          <a:ln/>
        </p:spPr>
        <p:txBody>
          <a:bodyPr wrap="square" lIns="0" tIns="0" rIns="0" bIns="0" rtlCol="0" anchor="t"/>
          <a:lstStyle/>
          <a:p>
            <a:pPr algn="l" indent="0" marL="0">
              <a:lnSpc>
                <a:spcPct val="110000"/>
              </a:lnSpc>
              <a:buNone/>
            </a:pPr>
            <a:r>
              <a:rPr lang="en-US" sz="1500" b="1" dirty="0">
                <a:solidFill>
                  <a:srgbClr val="4A5865"/>
                </a:solidFill>
              </a:rPr>
              <a:t>Checked. </a:t>
            </a:r>
            <a:pPr algn="l" indent="0" marL="0">
              <a:lnSpc>
                <a:spcPct val="110000"/>
              </a:lnSpc>
              <a:buNone/>
            </a:pPr>
            <a:r>
              <a:rPr lang="en-US" sz="1500" dirty="0">
                <a:solidFill>
                  <a:srgbClr val="4A5865"/>
                </a:solidFill>
              </a:rPr>
              <a:t>Same travel time as Dijkstra's algorithm on all 1,008 reachable routes tested.</a:t>
            </a:r>
            <a:endParaRPr lang="en-US" sz="15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Flooding changes most best routes</a:t>
            </a:r>
            <a:endParaRPr lang="en-US" sz="3600" dirty="0"/>
          </a:p>
        </p:txBody>
      </p:sp>
      <p:sp>
        <p:nvSpPr>
          <p:cNvPr id="4" name="Text 1"/>
          <p:cNvSpPr txBox="1"/>
          <p:nvPr/>
        </p:nvSpPr>
        <p:spPr>
          <a:xfrm>
            <a:off x="812810" y="1587490"/>
            <a:ext cx="10566166" cy="25402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300 depot-to-area pairs in the 2015 replay, compared with their dry-weather routes.</a:t>
            </a:r>
            <a:endParaRPr lang="en-US" sz="1400" dirty="0"/>
          </a:p>
        </p:txBody>
      </p:sp>
      <p:sp>
        <p:nvSpPr>
          <p:cNvPr id="5" name="Shape 2"/>
          <p:cNvSpPr/>
          <p:nvPr/>
        </p:nvSpPr>
        <p:spPr>
          <a:xfrm>
            <a:off x="812810" y="2000159"/>
            <a:ext cx="2527219" cy="1714500"/>
          </a:xfrm>
          <a:prstGeom prst="roundRect">
            <a:avLst>
              <a:gd name="adj" fmla="val 7408"/>
            </a:avLst>
          </a:prstGeom>
          <a:solidFill>
            <a:schemeClr val="bg2"/>
          </a:solidFill>
          <a:ln w="9525">
            <a:solidFill>
              <a:srgbClr val="D7DDD8"/>
            </a:solidFill>
            <a:prstDash val="solid"/>
          </a:ln>
        </p:spPr>
      </p:sp>
      <p:sp>
        <p:nvSpPr>
          <p:cNvPr id="6" name="Text 3"/>
          <p:cNvSpPr txBox="1"/>
          <p:nvPr/>
        </p:nvSpPr>
        <p:spPr>
          <a:xfrm>
            <a:off x="990570" y="2178009"/>
            <a:ext cx="2171609" cy="634959"/>
          </a:xfrm>
          <a:prstGeom prst="rect">
            <a:avLst/>
          </a:prstGeom>
          <a:noFill/>
          <a:ln/>
        </p:spPr>
        <p:txBody>
          <a:bodyPr wrap="square" lIns="0" tIns="0" rIns="0" bIns="0" rtlCol="0" anchor="t"/>
          <a:lstStyle/>
          <a:p>
            <a:pPr algn="l" indent="0" marL="0">
              <a:lnSpc>
                <a:spcPct val="100000"/>
              </a:lnSpc>
              <a:buNone/>
            </a:pPr>
            <a:r>
              <a:rPr lang="en-US" sz="4600" b="1" dirty="0">
                <a:solidFill>
                  <a:schemeClr val="accent1"/>
                </a:solidFill>
                <a:latin typeface="+mj-lt" pitchFamily="34" charset="0"/>
                <a:ea typeface="+mj-lt" pitchFamily="34" charset="-122"/>
                <a:cs typeface="+mj-lt" pitchFamily="34" charset="-120"/>
              </a:rPr>
              <a:t>18%</a:t>
            </a:r>
            <a:endParaRPr lang="en-US" sz="4600" dirty="0"/>
          </a:p>
        </p:txBody>
      </p:sp>
      <p:sp>
        <p:nvSpPr>
          <p:cNvPr id="7" name="Text 4"/>
          <p:cNvSpPr txBox="1"/>
          <p:nvPr/>
        </p:nvSpPr>
        <p:spPr>
          <a:xfrm>
            <a:off x="990570" y="2920959"/>
            <a:ext cx="2171609" cy="666689"/>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had no open road at all (54 of 300)</a:t>
            </a:r>
            <a:endParaRPr lang="en-US" sz="1400" dirty="0"/>
          </a:p>
        </p:txBody>
      </p:sp>
      <p:sp>
        <p:nvSpPr>
          <p:cNvPr id="8" name="Shape 5"/>
          <p:cNvSpPr/>
          <p:nvPr/>
        </p:nvSpPr>
        <p:spPr>
          <a:xfrm>
            <a:off x="3492368" y="2000159"/>
            <a:ext cx="2527219" cy="1714500"/>
          </a:xfrm>
          <a:prstGeom prst="roundRect">
            <a:avLst>
              <a:gd name="adj" fmla="val 7408"/>
            </a:avLst>
          </a:prstGeom>
          <a:solidFill>
            <a:schemeClr val="bg2"/>
          </a:solidFill>
          <a:ln w="9525">
            <a:solidFill>
              <a:srgbClr val="D7DDD8"/>
            </a:solidFill>
            <a:prstDash val="solid"/>
          </a:ln>
        </p:spPr>
      </p:sp>
      <p:sp>
        <p:nvSpPr>
          <p:cNvPr id="9" name="Text 6"/>
          <p:cNvSpPr txBox="1"/>
          <p:nvPr/>
        </p:nvSpPr>
        <p:spPr>
          <a:xfrm>
            <a:off x="3670219" y="2178009"/>
            <a:ext cx="2171609" cy="634959"/>
          </a:xfrm>
          <a:prstGeom prst="rect">
            <a:avLst/>
          </a:prstGeom>
          <a:noFill/>
          <a:ln/>
        </p:spPr>
        <p:txBody>
          <a:bodyPr wrap="square" lIns="0" tIns="0" rIns="0" bIns="0" rtlCol="0" anchor="t"/>
          <a:lstStyle/>
          <a:p>
            <a:pPr algn="l" indent="0" marL="0">
              <a:lnSpc>
                <a:spcPct val="100000"/>
              </a:lnSpc>
              <a:buNone/>
            </a:pPr>
            <a:r>
              <a:rPr lang="en-US" sz="4600" b="1" dirty="0">
                <a:solidFill>
                  <a:schemeClr val="accent1"/>
                </a:solidFill>
                <a:latin typeface="+mj-lt" pitchFamily="34" charset="0"/>
                <a:ea typeface="+mj-lt" pitchFamily="34" charset="-122"/>
                <a:cs typeface="+mj-lt" pitchFamily="34" charset="-120"/>
              </a:rPr>
              <a:t>15%</a:t>
            </a:r>
            <a:endParaRPr lang="en-US" sz="4600" dirty="0"/>
          </a:p>
        </p:txBody>
      </p:sp>
      <p:sp>
        <p:nvSpPr>
          <p:cNvPr id="10" name="Text 7"/>
          <p:cNvSpPr txBox="1"/>
          <p:nvPr/>
        </p:nvSpPr>
        <p:spPr>
          <a:xfrm>
            <a:off x="3670219" y="2920959"/>
            <a:ext cx="2171609" cy="666689"/>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had a dry-weather route that crosses a closed road</a:t>
            </a:r>
            <a:endParaRPr lang="en-US" sz="1400" dirty="0"/>
          </a:p>
        </p:txBody>
      </p:sp>
      <p:sp>
        <p:nvSpPr>
          <p:cNvPr id="11" name="Shape 8"/>
          <p:cNvSpPr/>
          <p:nvPr/>
        </p:nvSpPr>
        <p:spPr>
          <a:xfrm>
            <a:off x="6172017" y="2000159"/>
            <a:ext cx="2527219" cy="1714500"/>
          </a:xfrm>
          <a:prstGeom prst="roundRect">
            <a:avLst>
              <a:gd name="adj" fmla="val 7408"/>
            </a:avLst>
          </a:prstGeom>
          <a:solidFill>
            <a:schemeClr val="bg2"/>
          </a:solidFill>
          <a:ln w="9525">
            <a:solidFill>
              <a:srgbClr val="D7DDD8"/>
            </a:solidFill>
            <a:prstDash val="solid"/>
          </a:ln>
        </p:spPr>
      </p:sp>
      <p:sp>
        <p:nvSpPr>
          <p:cNvPr id="12" name="Text 9"/>
          <p:cNvSpPr txBox="1"/>
          <p:nvPr/>
        </p:nvSpPr>
        <p:spPr>
          <a:xfrm>
            <a:off x="6349868" y="2178009"/>
            <a:ext cx="2171609" cy="634959"/>
          </a:xfrm>
          <a:prstGeom prst="rect">
            <a:avLst/>
          </a:prstGeom>
          <a:noFill/>
          <a:ln/>
        </p:spPr>
        <p:txBody>
          <a:bodyPr wrap="square" lIns="0" tIns="0" rIns="0" bIns="0" rtlCol="0" anchor="t"/>
          <a:lstStyle/>
          <a:p>
            <a:pPr algn="l" indent="0" marL="0">
              <a:lnSpc>
                <a:spcPct val="100000"/>
              </a:lnSpc>
              <a:buNone/>
            </a:pPr>
            <a:r>
              <a:rPr lang="en-US" sz="4600" b="1" dirty="0">
                <a:solidFill>
                  <a:schemeClr val="accent1"/>
                </a:solidFill>
                <a:latin typeface="+mj-lt" pitchFamily="34" charset="0"/>
                <a:ea typeface="+mj-lt" pitchFamily="34" charset="-122"/>
                <a:cs typeface="+mj-lt" pitchFamily="34" charset="-120"/>
              </a:rPr>
              <a:t>67%</a:t>
            </a:r>
            <a:endParaRPr lang="en-US" sz="4600" dirty="0"/>
          </a:p>
        </p:txBody>
      </p:sp>
      <p:sp>
        <p:nvSpPr>
          <p:cNvPr id="13" name="Text 10"/>
          <p:cNvSpPr txBox="1"/>
          <p:nvPr/>
        </p:nvSpPr>
        <p:spPr>
          <a:xfrm>
            <a:off x="6349868" y="2920959"/>
            <a:ext cx="2171609" cy="666689"/>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of the 246 reachable pairs had a different best route</a:t>
            </a:r>
            <a:endParaRPr lang="en-US" sz="1400" dirty="0"/>
          </a:p>
        </p:txBody>
      </p:sp>
      <p:sp>
        <p:nvSpPr>
          <p:cNvPr id="14" name="Shape 11"/>
          <p:cNvSpPr/>
          <p:nvPr/>
        </p:nvSpPr>
        <p:spPr>
          <a:xfrm>
            <a:off x="8851666" y="2000159"/>
            <a:ext cx="2527219" cy="1714500"/>
          </a:xfrm>
          <a:prstGeom prst="roundRect">
            <a:avLst>
              <a:gd name="adj" fmla="val 7408"/>
            </a:avLst>
          </a:prstGeom>
          <a:solidFill>
            <a:schemeClr val="bg2"/>
          </a:solidFill>
          <a:ln w="9525">
            <a:solidFill>
              <a:srgbClr val="D7DDD8"/>
            </a:solidFill>
            <a:prstDash val="solid"/>
          </a:ln>
        </p:spPr>
      </p:sp>
      <p:sp>
        <p:nvSpPr>
          <p:cNvPr id="15" name="Text 12"/>
          <p:cNvSpPr txBox="1"/>
          <p:nvPr/>
        </p:nvSpPr>
        <p:spPr>
          <a:xfrm>
            <a:off x="9029517" y="2178009"/>
            <a:ext cx="2171609" cy="634959"/>
          </a:xfrm>
          <a:prstGeom prst="rect">
            <a:avLst/>
          </a:prstGeom>
          <a:noFill/>
          <a:ln/>
        </p:spPr>
        <p:txBody>
          <a:bodyPr wrap="square" lIns="0" tIns="0" rIns="0" bIns="0" rtlCol="0" anchor="t"/>
          <a:lstStyle/>
          <a:p>
            <a:pPr algn="l" indent="0" marL="0">
              <a:lnSpc>
                <a:spcPct val="100000"/>
              </a:lnSpc>
              <a:buNone/>
            </a:pPr>
            <a:r>
              <a:rPr lang="en-US" sz="4600" b="1" dirty="0">
                <a:solidFill>
                  <a:schemeClr val="accent1"/>
                </a:solidFill>
                <a:latin typeface="+mj-lt" pitchFamily="34" charset="0"/>
                <a:ea typeface="+mj-lt" pitchFamily="34" charset="-122"/>
                <a:cs typeface="+mj-lt" pitchFamily="34" charset="-120"/>
              </a:rPr>
              <a:t>+19.9%</a:t>
            </a:r>
            <a:endParaRPr lang="en-US" sz="4600" dirty="0"/>
          </a:p>
        </p:txBody>
      </p:sp>
      <p:sp>
        <p:nvSpPr>
          <p:cNvPr id="16" name="Text 13"/>
          <p:cNvSpPr txBox="1"/>
          <p:nvPr/>
        </p:nvSpPr>
        <p:spPr>
          <a:xfrm>
            <a:off x="9029517" y="2920959"/>
            <a:ext cx="2171609" cy="666689"/>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longer mean travel time on the reachable pairs</a:t>
            </a:r>
            <a:endParaRPr lang="en-US" sz="1400" dirty="0"/>
          </a:p>
        </p:txBody>
      </p:sp>
      <p:sp>
        <p:nvSpPr>
          <p:cNvPr id="17" name="Text 14"/>
          <p:cNvSpPr txBox="1"/>
          <p:nvPr/>
        </p:nvSpPr>
        <p:spPr>
          <a:xfrm>
            <a:off x="812810" y="3968679"/>
            <a:ext cx="10566166" cy="2540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The same measures for two other events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10" y="4292468"/>
          <a:ext cx="10566166" cy="914400"/>
        </p:xfrm>
        <a:graphic>
          <a:graphicData uri="http://schemas.openxmlformats.org/drawingml/2006/table">
            <a:tbl>
              <a:tblPr/>
              <a:tblGrid>
                <a:gridCol w="2958541"/>
                <a:gridCol w="1901861"/>
                <a:gridCol w="1901861"/>
                <a:gridCol w="2113270"/>
                <a:gridCol w="1690543"/>
              </a:tblGrid>
              <a:tr h="381030">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Event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No open road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Dry route closed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Different best route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Longer travel</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r>
              <a:tr h="38103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Michaung 2023</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65%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+17.2%</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r>
              <a:tr h="38103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Cyclone drill</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49%</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r>
            </a:tbl>
          </a:graphicData>
        </a:graphic>
      </p:graphicFrame>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A genetic algorithm assigns the trucks</a:t>
            </a:r>
            <a:endParaRPr lang="en-US" sz="3600" dirty="0"/>
          </a:p>
        </p:txBody>
      </p:sp>
      <p:sp>
        <p:nvSpPr>
          <p:cNvPr id="4" name="Text 1"/>
          <p:cNvSpPr/>
          <p:nvPr/>
        </p:nvSpPr>
        <p:spPr>
          <a:xfrm>
            <a:off x="812810" y="1663659"/>
            <a:ext cx="355610" cy="35561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2"/>
          <p:cNvSpPr txBox="1"/>
          <p:nvPr/>
        </p:nvSpPr>
        <p:spPr>
          <a:xfrm>
            <a:off x="1295339" y="1612819"/>
            <a:ext cx="4343309" cy="24131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Score</a:t>
            </a:r>
            <a:endParaRPr lang="en-US" sz="1500" dirty="0"/>
          </a:p>
        </p:txBody>
      </p:sp>
      <p:sp>
        <p:nvSpPr>
          <p:cNvPr id="6" name="Text 3"/>
          <p:cNvSpPr txBox="1"/>
          <p:nvPr/>
        </p:nvSpPr>
        <p:spPr>
          <a:xfrm>
            <a:off x="1295339" y="1854129"/>
            <a:ext cx="4343309" cy="43178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Eight fitness terms, using A* travel times</a:t>
            </a:r>
            <a:endParaRPr lang="en-US" sz="1400" dirty="0"/>
          </a:p>
        </p:txBody>
      </p:sp>
      <p:sp>
        <p:nvSpPr>
          <p:cNvPr id="7" name="Text 4"/>
          <p:cNvSpPr/>
          <p:nvPr/>
        </p:nvSpPr>
        <p:spPr>
          <a:xfrm>
            <a:off x="812810" y="2374880"/>
            <a:ext cx="355610" cy="35561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5"/>
          <p:cNvSpPr txBox="1"/>
          <p:nvPr/>
        </p:nvSpPr>
        <p:spPr>
          <a:xfrm>
            <a:off x="1295339" y="2324039"/>
            <a:ext cx="4343309" cy="24131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Select</a:t>
            </a:r>
            <a:endParaRPr lang="en-US" sz="1500" dirty="0"/>
          </a:p>
        </p:txBody>
      </p:sp>
      <p:sp>
        <p:nvSpPr>
          <p:cNvPr id="9" name="Text 6"/>
          <p:cNvSpPr txBox="1"/>
          <p:nvPr/>
        </p:nvSpPr>
        <p:spPr>
          <a:xfrm>
            <a:off x="1295339" y="2565349"/>
            <a:ext cx="4343309" cy="43178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The best of four random plans becomes a parent</a:t>
            </a:r>
            <a:endParaRPr lang="en-US" sz="1400" dirty="0"/>
          </a:p>
        </p:txBody>
      </p:sp>
      <p:sp>
        <p:nvSpPr>
          <p:cNvPr id="10" name="Text 7"/>
          <p:cNvSpPr/>
          <p:nvPr/>
        </p:nvSpPr>
        <p:spPr>
          <a:xfrm>
            <a:off x="812810" y="3086009"/>
            <a:ext cx="355610" cy="35561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8"/>
          <p:cNvSpPr txBox="1"/>
          <p:nvPr/>
        </p:nvSpPr>
        <p:spPr>
          <a:xfrm>
            <a:off x="1295339" y="3035259"/>
            <a:ext cx="4343309" cy="24131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Recombine</a:t>
            </a:r>
            <a:endParaRPr lang="en-US" sz="1500" dirty="0"/>
          </a:p>
        </p:txBody>
      </p:sp>
      <p:sp>
        <p:nvSpPr>
          <p:cNvPr id="12" name="Text 9"/>
          <p:cNvSpPr txBox="1"/>
          <p:nvPr/>
        </p:nvSpPr>
        <p:spPr>
          <a:xfrm>
            <a:off x="1295339" y="3276478"/>
            <a:ext cx="4343309" cy="43178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Order crossover joins two parents in 80% of pairs</a:t>
            </a:r>
            <a:endParaRPr lang="en-US" sz="1400" dirty="0"/>
          </a:p>
        </p:txBody>
      </p:sp>
      <p:sp>
        <p:nvSpPr>
          <p:cNvPr id="13" name="Text 10"/>
          <p:cNvSpPr/>
          <p:nvPr/>
        </p:nvSpPr>
        <p:spPr>
          <a:xfrm>
            <a:off x="812810" y="3797229"/>
            <a:ext cx="355610" cy="35561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Text 11"/>
          <p:cNvSpPr txBox="1"/>
          <p:nvPr/>
        </p:nvSpPr>
        <p:spPr>
          <a:xfrm>
            <a:off x="1295339" y="3746388"/>
            <a:ext cx="4343309" cy="24131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Mutate</a:t>
            </a:r>
            <a:endParaRPr lang="en-US" sz="1500" dirty="0"/>
          </a:p>
        </p:txBody>
      </p:sp>
      <p:sp>
        <p:nvSpPr>
          <p:cNvPr id="15" name="Text 12"/>
          <p:cNvSpPr txBox="1"/>
          <p:nvPr/>
        </p:nvSpPr>
        <p:spPr>
          <a:xfrm>
            <a:off x="1295339" y="3987698"/>
            <a:ext cx="4343309" cy="43178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5% of children move a stop, switch truck or reverse a stretch of route</a:t>
            </a:r>
            <a:endParaRPr lang="en-US" sz="1400" dirty="0"/>
          </a:p>
        </p:txBody>
      </p:sp>
      <p:sp>
        <p:nvSpPr>
          <p:cNvPr id="16" name="Text 13"/>
          <p:cNvSpPr/>
          <p:nvPr/>
        </p:nvSpPr>
        <p:spPr>
          <a:xfrm>
            <a:off x="812810" y="4508358"/>
            <a:ext cx="355610" cy="35561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7" name="Text 14"/>
          <p:cNvSpPr txBox="1"/>
          <p:nvPr/>
        </p:nvSpPr>
        <p:spPr>
          <a:xfrm>
            <a:off x="1295339" y="4457609"/>
            <a:ext cx="4343309" cy="24131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Keep</a:t>
            </a:r>
            <a:endParaRPr lang="en-US" sz="1500" dirty="0"/>
          </a:p>
        </p:txBody>
      </p:sp>
      <p:sp>
        <p:nvSpPr>
          <p:cNvPr id="18" name="Text 15"/>
          <p:cNvSpPr txBox="1"/>
          <p:nvPr/>
        </p:nvSpPr>
        <p:spPr>
          <a:xfrm>
            <a:off x="1295339" y="4698919"/>
            <a:ext cx="4343309" cy="43178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The 2 best plans pass on unchanged</a:t>
            </a:r>
            <a:endParaRPr lang="en-US" sz="1400" dirty="0"/>
          </a:p>
        </p:txBody>
      </p:sp>
      <p:sp>
        <p:nvSpPr>
          <p:cNvPr id="19" name="Text 16"/>
          <p:cNvSpPr txBox="1"/>
          <p:nvPr/>
        </p:nvSpPr>
        <p:spPr>
          <a:xfrm>
            <a:off x="812810" y="5308458"/>
            <a:ext cx="4825837" cy="444490"/>
          </a:xfrm>
          <a:prstGeom prst="rect">
            <a:avLst/>
          </a:prstGeom>
          <a:noFill/>
          <a:ln/>
        </p:spPr>
        <p:txBody>
          <a:bodyPr wrap="square" lIns="0" tIns="0" rIns="0" bIns="0" rtlCol="0" anchor="t"/>
          <a:lstStyle/>
          <a:p>
            <a:pPr algn="l" indent="0" marL="0">
              <a:lnSpc>
                <a:spcPct val="110000"/>
              </a:lnSpc>
              <a:buNone/>
            </a:pPr>
            <a:r>
              <a:rPr lang="en-US" sz="1300" dirty="0">
                <a:solidFill>
                  <a:srgbClr val="4A5865"/>
                </a:solidFill>
              </a:rPr>
              <a:t>Balanced mode: 100 plans and 250 generations, starting from 2 seeded plans and random ones.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417" y="1619220"/>
          <a:ext cx="5435468" cy="914400"/>
        </p:xfrm>
        <a:graphic>
          <a:graphicData uri="http://schemas.openxmlformats.org/drawingml/2006/table">
            <a:tbl>
              <a:tblPr/>
              <a:tblGrid>
                <a:gridCol w="2717688"/>
                <a:gridCol w="1630650"/>
                <a:gridCol w="1087130"/>
              </a:tblGrid>
              <a:tr h="330190">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Fitness term</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Weight</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Varies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tx1"/>
                    </a:solidFill>
                  </a:tcPr>
                </a:tc>
              </a:tr>
              <a:tr h="33019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Priority-weighted delivery</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300" dirty="0">
                          <a:solidFill>
                            <a:srgbClr val="5C697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r>
              <a:tr h="33019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Area coverage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+2000</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300" dirty="0">
                          <a:solidFill>
                            <a:srgbClr val="5C697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r>
              <a:tr h="33019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Unserved areas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300" dirty="0">
                          <a:solidFill>
                            <a:srgbClr val="5C697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r>
              <a:tr h="33019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Distance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−1.5 per km</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300" dirty="0">
                          <a:solidFill>
                            <a:srgbClr val="14508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r>
              <a:tr h="33019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Truck overload</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−80 per unit</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300" dirty="0">
                          <a:solidFill>
                            <a:srgbClr val="14508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r>
              <a:tr h="33019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Fuel beyond tank</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−100 per litre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300" dirty="0">
                          <a:solidFill>
                            <a:srgbClr val="14508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r>
              <a:tr h="33019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Cut-off leg</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−500 per leg</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c>
                  <a:txBody>
                    <a:bodyPr/>
                    <a:lstStyle/>
                    <a:p>
                      <a:pPr algn="l" indent="0" marL="0">
                        <a:buNone/>
                      </a:pPr>
                      <a:r>
                        <a:rPr lang="en-US" sz="1300" dirty="0">
                          <a:solidFill>
                            <a:srgbClr val="14508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chemeClr val="bg2"/>
                    </a:solidFill>
                  </a:tcPr>
                </a:tc>
              </a:tr>
              <a:tr h="33019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Fleet imbalance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−10 × spread</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c>
                  <a:txBody>
                    <a:bodyPr/>
                    <a:lstStyle/>
                    <a:p>
                      <a:pPr algn="l" indent="0" marL="0">
                        <a:buNone/>
                      </a:pPr>
                      <a:r>
                        <a:rPr lang="en-US" sz="1300" dirty="0">
                          <a:solidFill>
                            <a:srgbClr val="14508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9525" cap="flat" cmpd="sng" algn="ctr">
                      <a:solidFill>
                        <a:srgbClr val="D7DDD8"/>
                      </a:solidFill>
                      <a:prstDash val="solid"/>
                      <a:round/>
                      <a:headEnd type="none" w="med" len="med"/>
                      <a:tailEnd type="none" w="med" len="med"/>
                    </a:lnB>
                    <a:solidFill>
                      <a:srgbClr val="E9EEEA"/>
                    </a:solidFill>
                  </a:tcPr>
                </a:tc>
              </a:tr>
            </a:tbl>
          </a:graphicData>
        </a:graphic>
      </p:graphicFrame>
      <p:sp>
        <p:nvSpPr>
          <p:cNvPr id="21" name="Shape 17"/>
          <p:cNvSpPr/>
          <p:nvPr/>
        </p:nvSpPr>
        <p:spPr>
          <a:xfrm>
            <a:off x="5943417" y="4794108"/>
            <a:ext cx="5435468" cy="825520"/>
          </a:xfrm>
          <a:prstGeom prst="roundRect">
            <a:avLst>
              <a:gd name="adj" fmla="val 12306"/>
            </a:avLst>
          </a:prstGeom>
          <a:solidFill>
            <a:srgbClr val="E6EFF9"/>
          </a:solidFill>
          <a:ln w="9525">
            <a:solidFill>
              <a:srgbClr val="B9D1EC"/>
            </a:solidFill>
            <a:prstDash val="solid"/>
          </a:ln>
        </p:spPr>
      </p:sp>
      <p:sp>
        <p:nvSpPr>
          <p:cNvPr id="22" name="Text 18"/>
          <p:cNvSpPr txBox="1"/>
          <p:nvPr/>
        </p:nvSpPr>
        <p:spPr>
          <a:xfrm>
            <a:off x="6121268" y="4794108"/>
            <a:ext cx="5079858" cy="82552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Each cut-off leg costs about 15,500 points: 500 plus a 9,999 km stand-in distance at 1.5 per km.</a:t>
            </a:r>
            <a:endParaRPr lang="en-US" sz="14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bg1"/>
                </a:solidFill>
              </a:rPr>
              <a:t>The screen says every area is reached</a:t>
            </a:r>
            <a:endParaRPr lang="en-US" sz="3600" dirty="0"/>
          </a:p>
        </p:txBody>
      </p:sp>
      <p:pic>
        <p:nvPicPr>
          <p:cNvPr id="4" name="Image 0" descr="Dispatch page for the 2015 floods: the headline reads 46 trucks reach all 57 areas by 9:01 pm, with cut-off warnings listed below it">    </p:cNvPr>
          <p:cNvPicPr>
            <a:picLocks noChangeAspect="1"/>
          </p:cNvPicPr>
          <p:nvPr/>
        </p:nvPicPr>
        <p:blipFill>
          <a:blip r:embed="rId1"/>
          <a:stretch>
            <a:fillRect/>
          </a:stretch>
        </p:blipFill>
        <p:spPr>
          <a:xfrm>
            <a:off x="812810" y="1619220"/>
            <a:ext cx="6172017" cy="3860688"/>
          </a:xfrm>
          <a:prstGeom prst="rect">
            <a:avLst/>
          </a:prstGeom>
        </p:spPr>
      </p:pic>
      <p:sp>
        <p:nvSpPr>
          <p:cNvPr id="5" name="Shape 1"/>
          <p:cNvSpPr/>
          <p:nvPr/>
        </p:nvSpPr>
        <p:spPr>
          <a:xfrm>
            <a:off x="7289597" y="1619220"/>
            <a:ext cx="4089288" cy="1092159"/>
          </a:xfrm>
          <a:prstGeom prst="roundRect">
            <a:avLst>
              <a:gd name="adj" fmla="val 9302"/>
            </a:avLst>
          </a:prstGeom>
          <a:solidFill>
            <a:schemeClr val="tx2"/>
          </a:solidFill>
          <a:ln w="9525">
            <a:solidFill>
              <a:srgbClr val="2A435C"/>
            </a:solidFill>
            <a:prstDash val="solid"/>
          </a:ln>
        </p:spPr>
      </p:sp>
      <p:sp>
        <p:nvSpPr>
          <p:cNvPr id="6" name="Text 2"/>
          <p:cNvSpPr txBox="1"/>
          <p:nvPr/>
        </p:nvSpPr>
        <p:spPr>
          <a:xfrm>
            <a:off x="7467448" y="1784269"/>
            <a:ext cx="3733678" cy="190470"/>
          </a:xfrm>
          <a:prstGeom prst="rect">
            <a:avLst/>
          </a:prstGeom>
          <a:noFill/>
          <a:ln/>
        </p:spPr>
        <p:txBody>
          <a:bodyPr wrap="square" lIns="0" tIns="0" rIns="0" bIns="0" rtlCol="0" anchor="t"/>
          <a:lstStyle/>
          <a:p>
            <a:pPr algn="l" indent="0" marL="0">
              <a:lnSpc>
                <a:spcPct val="110000"/>
              </a:lnSpc>
              <a:buNone/>
            </a:pPr>
            <a:r>
              <a:rPr lang="en-US" sz="1200" b="1" dirty="0">
                <a:solidFill>
                  <a:schemeClr val="accent5"/>
                </a:solidFill>
              </a:rPr>
              <a:t>The headline</a:t>
            </a:r>
            <a:endParaRPr lang="en-US" sz="1200" dirty="0"/>
          </a:p>
        </p:txBody>
      </p:sp>
      <p:sp>
        <p:nvSpPr>
          <p:cNvPr id="7" name="Text 3"/>
          <p:cNvSpPr txBox="1"/>
          <p:nvPr/>
        </p:nvSpPr>
        <p:spPr>
          <a:xfrm>
            <a:off x="7467448" y="2050999"/>
            <a:ext cx="3733678" cy="571500"/>
          </a:xfrm>
          <a:prstGeom prst="rect">
            <a:avLst/>
          </a:prstGeom>
          <a:noFill/>
          <a:ln/>
        </p:spPr>
        <p:txBody>
          <a:bodyPr wrap="square" lIns="0" tIns="0" rIns="0" bIns="0" rtlCol="0" anchor="t"/>
          <a:lstStyle/>
          <a:p>
            <a:pPr algn="l" indent="0" marL="0">
              <a:lnSpc>
                <a:spcPct val="110000"/>
              </a:lnSpc>
              <a:buNone/>
            </a:pPr>
            <a:r>
              <a:rPr lang="en-US" sz="1600" dirty="0">
                <a:solidFill>
                  <a:schemeClr val="bg1"/>
                </a:solidFill>
                <a:latin typeface="+mj-lt" pitchFamily="34" charset="0"/>
                <a:ea typeface="+mj-lt" pitchFamily="34" charset="-122"/>
                <a:cs typeface="+mj-lt" pitchFamily="34" charset="-120"/>
              </a:rPr>
              <a:t>46 trucks reach all 57 areas by 9:01 pm</a:t>
            </a:r>
            <a:endParaRPr lang="en-US" sz="1600" dirty="0"/>
          </a:p>
        </p:txBody>
      </p:sp>
      <p:sp>
        <p:nvSpPr>
          <p:cNvPr id="8" name="Shape 4"/>
          <p:cNvSpPr/>
          <p:nvPr/>
        </p:nvSpPr>
        <p:spPr>
          <a:xfrm>
            <a:off x="7289597" y="2889138"/>
            <a:ext cx="4089288" cy="825520"/>
          </a:xfrm>
          <a:prstGeom prst="roundRect">
            <a:avLst>
              <a:gd name="adj" fmla="val 12306"/>
            </a:avLst>
          </a:prstGeom>
          <a:solidFill>
            <a:schemeClr val="tx2"/>
          </a:solidFill>
          <a:ln w="9525">
            <a:solidFill>
              <a:srgbClr val="2A435C"/>
            </a:solidFill>
            <a:prstDash val="solid"/>
          </a:ln>
        </p:spPr>
      </p:sp>
      <p:sp>
        <p:nvSpPr>
          <p:cNvPr id="9" name="Text 5"/>
          <p:cNvSpPr txBox="1"/>
          <p:nvPr/>
        </p:nvSpPr>
        <p:spPr>
          <a:xfrm>
            <a:off x="7467448" y="3054279"/>
            <a:ext cx="3733678" cy="190470"/>
          </a:xfrm>
          <a:prstGeom prst="rect">
            <a:avLst/>
          </a:prstGeom>
          <a:noFill/>
          <a:ln/>
        </p:spPr>
        <p:txBody>
          <a:bodyPr wrap="square" lIns="0" tIns="0" rIns="0" bIns="0" rtlCol="0" anchor="t"/>
          <a:lstStyle/>
          <a:p>
            <a:pPr algn="l" indent="0" marL="0">
              <a:lnSpc>
                <a:spcPct val="110000"/>
              </a:lnSpc>
              <a:buNone/>
            </a:pPr>
            <a:r>
              <a:rPr lang="en-US" sz="1200" b="1" dirty="0">
                <a:solidFill>
                  <a:schemeClr val="accent5"/>
                </a:solidFill>
              </a:rPr>
              <a:t>Critical areas</a:t>
            </a:r>
            <a:endParaRPr lang="en-US" sz="1200" dirty="0"/>
          </a:p>
        </p:txBody>
      </p:sp>
      <p:sp>
        <p:nvSpPr>
          <p:cNvPr id="10" name="Text 6"/>
          <p:cNvSpPr txBox="1"/>
          <p:nvPr/>
        </p:nvSpPr>
        <p:spPr>
          <a:xfrm>
            <a:off x="7467448" y="3321009"/>
            <a:ext cx="3733678" cy="317480"/>
          </a:xfrm>
          <a:prstGeom prst="rect">
            <a:avLst/>
          </a:prstGeom>
          <a:noFill/>
          <a:ln/>
        </p:spPr>
        <p:txBody>
          <a:bodyPr wrap="square" lIns="0" tIns="0" rIns="0" bIns="0" rtlCol="0" anchor="t"/>
          <a:lstStyle/>
          <a:p>
            <a:pPr algn="l" indent="0" marL="0">
              <a:lnSpc>
                <a:spcPct val="110000"/>
              </a:lnSpc>
              <a:buNone/>
            </a:pPr>
            <a:r>
              <a:rPr lang="en-US" sz="1600" dirty="0">
                <a:solidFill>
                  <a:schemeClr val="bg1"/>
                </a:solidFill>
                <a:latin typeface="+mj-lt" pitchFamily="34" charset="0"/>
                <a:ea typeface="+mj-lt" pitchFamily="34" charset="-122"/>
                <a:cs typeface="+mj-lt" pitchFamily="34" charset="-120"/>
              </a:rPr>
              <a:t>All 28 reached by 6:47 pm</a:t>
            </a:r>
            <a:endParaRPr lang="en-US" sz="1600" dirty="0"/>
          </a:p>
        </p:txBody>
      </p:sp>
      <p:sp>
        <p:nvSpPr>
          <p:cNvPr id="11" name="Shape 7"/>
          <p:cNvSpPr/>
          <p:nvPr/>
        </p:nvSpPr>
        <p:spPr>
          <a:xfrm>
            <a:off x="7289597" y="3892418"/>
            <a:ext cx="4089288" cy="1587490"/>
          </a:xfrm>
          <a:prstGeom prst="roundRect">
            <a:avLst>
              <a:gd name="adj" fmla="val 6399"/>
            </a:avLst>
          </a:prstGeom>
          <a:solidFill>
            <a:srgbClr val="33201F"/>
          </a:solidFill>
          <a:ln w="9525">
            <a:solidFill>
              <a:srgbClr val="7A3B30"/>
            </a:solidFill>
            <a:prstDash val="solid"/>
          </a:ln>
        </p:spPr>
      </p:sp>
      <p:sp>
        <p:nvSpPr>
          <p:cNvPr id="12" name="Text 8"/>
          <p:cNvSpPr txBox="1"/>
          <p:nvPr/>
        </p:nvSpPr>
        <p:spPr>
          <a:xfrm>
            <a:off x="7467448" y="4057559"/>
            <a:ext cx="3733678" cy="190470"/>
          </a:xfrm>
          <a:prstGeom prst="rect">
            <a:avLst/>
          </a:prstGeom>
          <a:noFill/>
          <a:ln/>
        </p:spPr>
        <p:txBody>
          <a:bodyPr wrap="square" lIns="0" tIns="0" rIns="0" bIns="0" rtlCol="0" anchor="t"/>
          <a:lstStyle/>
          <a:p>
            <a:pPr algn="l" indent="0" marL="0">
              <a:lnSpc>
                <a:spcPct val="110000"/>
              </a:lnSpc>
              <a:buNone/>
            </a:pPr>
            <a:r>
              <a:rPr lang="en-US" sz="1200" b="1" dirty="0">
                <a:solidFill>
                  <a:srgbClr val="FF8A6E"/>
                </a:solidFill>
              </a:rPr>
              <a:t>The warnings under it</a:t>
            </a:r>
            <a:endParaRPr lang="en-US" sz="1200" dirty="0"/>
          </a:p>
        </p:txBody>
      </p:sp>
      <p:sp>
        <p:nvSpPr>
          <p:cNvPr id="13" name="Text 9"/>
          <p:cNvSpPr txBox="1"/>
          <p:nvPr/>
        </p:nvSpPr>
        <p:spPr>
          <a:xfrm>
            <a:off x="7467448" y="4324198"/>
            <a:ext cx="3733678" cy="1047720"/>
          </a:xfrm>
          <a:prstGeom prst="rect">
            <a:avLst/>
          </a:prstGeom>
          <a:noFill/>
          <a:ln/>
        </p:spPr>
        <p:txBody>
          <a:bodyPr wrap="square" lIns="0" tIns="0" rIns="0" bIns="0" rtlCol="0" anchor="t"/>
          <a:lstStyle/>
          <a:p>
            <a:pPr algn="l" indent="0" marL="0">
              <a:lnSpc>
                <a:spcPct val="110000"/>
              </a:lnSpc>
              <a:buNone/>
            </a:pPr>
            <a:r>
              <a:rPr lang="en-US" sz="1400" dirty="0">
                <a:solidFill>
                  <a:schemeClr val="bg1"/>
                </a:solidFill>
              </a:rPr>
              <a:t>Perambur (Critical) is cut off, with no open road from nearby depots. It is also listed as the first delivery, at 5:31 pm.</a:t>
            </a:r>
            <a:endParaRPr lang="en-US" sz="14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8FA3B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The optimiser never improved the plan</a:t>
            </a:r>
            <a:endParaRPr lang="en-US" sz="3600" dirty="0"/>
          </a:p>
        </p:txBody>
      </p:sp>
      <p:sp>
        <p:nvSpPr>
          <p:cNvPr id="4" name="Text 1"/>
          <p:cNvSpPr txBox="1"/>
          <p:nvPr/>
        </p:nvSpPr>
        <p:spPr>
          <a:xfrm>
            <a:off x="812810" y="1600200"/>
            <a:ext cx="6705387" cy="215890"/>
          </a:xfrm>
          <a:prstGeom prst="rect">
            <a:avLst/>
          </a:prstGeom>
          <a:noFill/>
          <a:ln/>
        </p:spPr>
        <p:txBody>
          <a:bodyPr wrap="square" lIns="0" tIns="0" rIns="0" bIns="0" rtlCol="0" anchor="t"/>
          <a:lstStyle/>
          <a:p>
            <a:pPr algn="l" indent="0" marL="0">
              <a:lnSpc>
                <a:spcPct val="110000"/>
              </a:lnSpc>
              <a:buNone/>
            </a:pPr>
            <a:r>
              <a:rPr lang="en-US" sz="1300" dirty="0">
                <a:solidFill>
                  <a:srgbClr val="4A5865"/>
                </a:solidFill>
              </a:rPr>
              <a:t>Cut-off legs in the best plan, by generation</a:t>
            </a:r>
            <a:endParaRPr lang="en-US" sz="1300" dirty="0"/>
          </a:p>
        </p:txBody>
      </p:sp>
      <p:graphicFrame>
        <p:nvGraphicFramePr>
          <p:cNvPr id="5" name="Chart 0" descr=""/>
          <p:cNvGraphicFramePr/>
          <p:nvPr/>
        </p:nvGraphicFramePr>
        <p:xfrm>
          <a:off x="812810" y="1854129"/>
          <a:ext cx="6705387" cy="3682929"/>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822966" y="1619220"/>
            <a:ext cx="3555919" cy="1066739"/>
          </a:xfrm>
          <a:prstGeom prst="roundRect">
            <a:avLst>
              <a:gd name="adj" fmla="val 9523"/>
            </a:avLst>
          </a:prstGeom>
          <a:solidFill>
            <a:schemeClr val="tx1"/>
          </a:solidFill>
          <a:ln/>
        </p:spPr>
      </p:sp>
      <p:sp>
        <p:nvSpPr>
          <p:cNvPr id="7" name="Text 3"/>
          <p:cNvSpPr txBox="1"/>
          <p:nvPr/>
        </p:nvSpPr>
        <p:spPr>
          <a:xfrm>
            <a:off x="8000817" y="1771650"/>
            <a:ext cx="3200309" cy="190470"/>
          </a:xfrm>
          <a:prstGeom prst="rect">
            <a:avLst/>
          </a:prstGeom>
          <a:noFill/>
          <a:ln/>
        </p:spPr>
        <p:txBody>
          <a:bodyPr wrap="square" lIns="0" tIns="0" rIns="0" bIns="0" rtlCol="0" anchor="t"/>
          <a:lstStyle/>
          <a:p>
            <a:pPr algn="l" indent="0" marL="0">
              <a:lnSpc>
                <a:spcPct val="110000"/>
              </a:lnSpc>
              <a:buNone/>
            </a:pPr>
            <a:r>
              <a:rPr lang="en-US" sz="1200" dirty="0">
                <a:solidFill>
                  <a:srgbClr val="B4C3D1"/>
                </a:solidFill>
              </a:rPr>
              <a:t>genetic.py, line 318</a:t>
            </a:r>
            <a:endParaRPr lang="en-US" sz="1200" dirty="0"/>
          </a:p>
        </p:txBody>
      </p:sp>
      <p:sp>
        <p:nvSpPr>
          <p:cNvPr id="8" name="Text 4"/>
          <p:cNvSpPr txBox="1"/>
          <p:nvPr/>
        </p:nvSpPr>
        <p:spPr>
          <a:xfrm>
            <a:off x="8000817" y="2063709"/>
            <a:ext cx="3200309" cy="215890"/>
          </a:xfrm>
          <a:prstGeom prst="rect">
            <a:avLst/>
          </a:prstGeom>
          <a:noFill/>
          <a:ln/>
        </p:spPr>
        <p:txBody>
          <a:bodyPr wrap="square" lIns="0" tIns="0" rIns="0" bIns="0" rtlCol="0" anchor="t"/>
          <a:lstStyle/>
          <a:p>
            <a:pPr algn="l" indent="0" marL="0">
              <a:lnSpc>
                <a:spcPct val="110000"/>
              </a:lnSpc>
              <a:buNone/>
            </a:pPr>
            <a:r>
              <a:rPr lang="en-US" sz="1200" dirty="0">
                <a:solidFill>
                  <a:srgbClr val="FF8A6E"/>
                </a:solidFill>
                <a:latin typeface="Courier New" pitchFamily="34" charset="0"/>
                <a:ea typeface="Courier New" pitchFamily="34" charset="-122"/>
                <a:cs typeface="Courier New" pitchFamily="34" charset="-120"/>
              </a:rPr>
              <a:t>- fitness = max(raw_fitness, 0.01)</a:t>
            </a:r>
            <a:endParaRPr lang="en-US" sz="1200" dirty="0"/>
          </a:p>
        </p:txBody>
      </p:sp>
      <p:sp>
        <p:nvSpPr>
          <p:cNvPr id="9" name="Text 5"/>
          <p:cNvSpPr txBox="1"/>
          <p:nvPr/>
        </p:nvSpPr>
        <p:spPr>
          <a:xfrm>
            <a:off x="8000817" y="2305020"/>
            <a:ext cx="3200309" cy="215890"/>
          </a:xfrm>
          <a:prstGeom prst="rect">
            <a:avLst/>
          </a:prstGeom>
          <a:noFill/>
          <a:ln/>
        </p:spPr>
        <p:txBody>
          <a:bodyPr wrap="square" lIns="0" tIns="0" rIns="0" bIns="0" rtlCol="0" anchor="t"/>
          <a:lstStyle/>
          <a:p>
            <a:pPr algn="l" indent="0" marL="0">
              <a:lnSpc>
                <a:spcPct val="110000"/>
              </a:lnSpc>
              <a:buNone/>
            </a:pPr>
            <a:r>
              <a:rPr lang="en-US" sz="1200" dirty="0">
                <a:solidFill>
                  <a:srgbClr val="7FD6A8"/>
                </a:solidFill>
                <a:latin typeface="Courier New" pitchFamily="34" charset="0"/>
                <a:ea typeface="Courier New" pitchFamily="34" charset="-122"/>
                <a:cs typeface="Courier New" pitchFamily="34" charset="-120"/>
              </a:rPr>
              <a:t>+ fitness = raw_fitness</a:t>
            </a:r>
            <a:endParaRPr lang="en-US" sz="1200" dirty="0"/>
          </a:p>
        </p:txBody>
      </p:sp>
      <p:sp>
        <p:nvSpPr>
          <p:cNvPr id="10" name="Text 6"/>
          <p:cNvSpPr txBox="1"/>
          <p:nvPr/>
        </p:nvSpPr>
        <p:spPr>
          <a:xfrm>
            <a:off x="7822966" y="2889138"/>
            <a:ext cx="3555919" cy="1523939"/>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Every plan has about 35 cut-off legs, so every plan scores about −10 to −12 million. The clamp floors all of them to 0.01. Selection cannot tell plans apart, and the first seed comes back unchanged.</a:t>
            </a:r>
            <a:endParaRPr lang="en-US" sz="1400" dirty="0"/>
          </a:p>
        </p:txBody>
      </p:sp>
      <p:sp>
        <p:nvSpPr>
          <p:cNvPr id="11" name="Text 7"/>
          <p:cNvSpPr txBox="1"/>
          <p:nvPr/>
        </p:nvSpPr>
        <p:spPr>
          <a:xfrm>
            <a:off x="812810" y="5638648"/>
            <a:ext cx="6705387" cy="215890"/>
          </a:xfrm>
          <a:prstGeom prst="rect">
            <a:avLst/>
          </a:prstGeom>
          <a:noFill/>
          <a:ln/>
        </p:spPr>
        <p:txBody>
          <a:bodyPr wrap="square" lIns="0" tIns="0" rIns="0" bIns="0" rtlCol="0" anchor="t"/>
          <a:lstStyle/>
          <a:p>
            <a:pPr algn="l" indent="0" marL="0">
              <a:lnSpc>
                <a:spcPct val="110000"/>
              </a:lnSpc>
              <a:buNone/>
            </a:pPr>
            <a:r>
              <a:rPr lang="en-US" sz="1200" dirty="0">
                <a:solidFill>
                  <a:srgbClr val="4A5865"/>
                </a:solidFill>
              </a:rPr>
              <a:t>At generation 225: shipped 35, floods repaired 22, Michaung repaired 19.</a:t>
            </a:r>
            <a:endParaRPr lang="en-US" sz="1200" dirty="0"/>
          </a:p>
        </p:txBody>
      </p:sp>
      <p:sp>
        <p:nvSpPr>
          <p:cNvPr id="12" name="Text 8"/>
          <p:cNvSpPr txBox="1"/>
          <p:nvPr/>
        </p:nvSpPr>
        <p:spPr>
          <a:xfrm>
            <a:off x="7822966" y="4571909"/>
            <a:ext cx="3555919" cy="507949"/>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All 14 shipped tests still pass after the fix.</a:t>
            </a:r>
            <a:endParaRPr lang="en-US" sz="14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Cut-off areas counted as reached</a:t>
            </a:r>
            <a:endParaRPr lang="en-US" sz="3600" dirty="0"/>
          </a:p>
        </p:txBody>
      </p:sp>
      <p:sp>
        <p:nvSpPr>
          <p:cNvPr id="4" name="Text 1"/>
          <p:cNvSpPr txBox="1"/>
          <p:nvPr/>
        </p:nvSpPr>
        <p:spPr>
          <a:xfrm>
            <a:off x="812810" y="1587490"/>
            <a:ext cx="10566166" cy="25402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A cut-off leg was recorded as 0 km and 0 hours, so the headline counted its area as reached.</a:t>
            </a:r>
            <a:endParaRPr lang="en-US" sz="1400" dirty="0"/>
          </a:p>
        </p:txBody>
      </p:sp>
      <p:graphicFrame>
        <p:nvGraphicFramePr>
          <p:cNvPr id="5" name="Chart 0" descr=""/>
          <p:cNvGraphicFramePr/>
          <p:nvPr/>
        </p:nvGraphicFramePr>
        <p:xfrm>
          <a:off x="812810" y="1968429"/>
          <a:ext cx="6857817" cy="3682929"/>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076987" y="2095439"/>
            <a:ext cx="3301898" cy="571500"/>
          </a:xfrm>
          <a:prstGeom prst="rect">
            <a:avLst/>
          </a:prstGeom>
          <a:noFill/>
          <a:ln/>
        </p:spPr>
        <p:txBody>
          <a:bodyPr wrap="square" lIns="0" tIns="0" rIns="0" bIns="0" rtlCol="0" anchor="t"/>
          <a:lstStyle/>
          <a:p>
            <a:pPr algn="l" indent="0" marL="0">
              <a:lnSpc>
                <a:spcPct val="100000"/>
              </a:lnSpc>
              <a:buNone/>
            </a:pPr>
            <a:r>
              <a:rPr lang="en-US" sz="4000" b="1" dirty="0">
                <a:solidFill>
                  <a:schemeClr val="accent2"/>
                </a:solidFill>
                <a:latin typeface="+mj-lt" pitchFamily="34" charset="0"/>
                <a:ea typeface="+mj-lt" pitchFamily="34" charset="-122"/>
                <a:cs typeface="+mj-lt" pitchFamily="34" charset="-120"/>
              </a:rPr>
              <a:t>24 of 57</a:t>
            </a:r>
            <a:endParaRPr lang="en-US" sz="4000" dirty="0"/>
          </a:p>
        </p:txBody>
      </p:sp>
      <p:sp>
        <p:nvSpPr>
          <p:cNvPr id="7" name="Text 3"/>
          <p:cNvSpPr txBox="1"/>
          <p:nvPr/>
        </p:nvSpPr>
        <p:spPr>
          <a:xfrm>
            <a:off x="8076987" y="2679649"/>
            <a:ext cx="3301898" cy="48262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areas cut off by closed roads in the 2015 replay</a:t>
            </a:r>
            <a:endParaRPr lang="en-US" sz="1400" dirty="0"/>
          </a:p>
        </p:txBody>
      </p:sp>
      <p:sp>
        <p:nvSpPr>
          <p:cNvPr id="8" name="Text 4"/>
          <p:cNvSpPr txBox="1"/>
          <p:nvPr/>
        </p:nvSpPr>
        <p:spPr>
          <a:xfrm>
            <a:off x="8076987" y="3301898"/>
            <a:ext cx="3301898" cy="571500"/>
          </a:xfrm>
          <a:prstGeom prst="rect">
            <a:avLst/>
          </a:prstGeom>
          <a:noFill/>
          <a:ln/>
        </p:spPr>
        <p:txBody>
          <a:bodyPr wrap="square" lIns="0" tIns="0" rIns="0" bIns="0" rtlCol="0" anchor="t"/>
          <a:lstStyle/>
          <a:p>
            <a:pPr algn="l" indent="0" marL="0">
              <a:lnSpc>
                <a:spcPct val="100000"/>
              </a:lnSpc>
              <a:buNone/>
            </a:pPr>
            <a:r>
              <a:rPr lang="en-US" sz="4000" b="1" dirty="0">
                <a:solidFill>
                  <a:schemeClr val="accent2"/>
                </a:solidFill>
                <a:latin typeface="+mj-lt" pitchFamily="34" charset="0"/>
                <a:ea typeface="+mj-lt" pitchFamily="34" charset="-122"/>
                <a:cs typeface="+mj-lt" pitchFamily="34" charset="-120"/>
              </a:rPr>
              <a:t>19 of 28</a:t>
            </a:r>
            <a:endParaRPr lang="en-US" sz="4000" dirty="0"/>
          </a:p>
        </p:txBody>
      </p:sp>
      <p:sp>
        <p:nvSpPr>
          <p:cNvPr id="9" name="Text 5"/>
          <p:cNvSpPr txBox="1"/>
          <p:nvPr/>
        </p:nvSpPr>
        <p:spPr>
          <a:xfrm>
            <a:off x="8076987" y="3886109"/>
            <a:ext cx="3301898" cy="48262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Critical areas reached by road, while the screen says all 28</a:t>
            </a:r>
            <a:endParaRPr lang="en-US" sz="1400" dirty="0"/>
          </a:p>
        </p:txBody>
      </p:sp>
      <p:sp>
        <p:nvSpPr>
          <p:cNvPr id="10" name="Text 6"/>
          <p:cNvSpPr txBox="1"/>
          <p:nvPr/>
        </p:nvSpPr>
        <p:spPr>
          <a:xfrm>
            <a:off x="8076987" y="4508358"/>
            <a:ext cx="3301898" cy="571500"/>
          </a:xfrm>
          <a:prstGeom prst="rect">
            <a:avLst/>
          </a:prstGeom>
          <a:noFill/>
          <a:ln/>
        </p:spPr>
        <p:txBody>
          <a:bodyPr wrap="square" lIns="0" tIns="0" rIns="0" bIns="0" rtlCol="0" anchor="t"/>
          <a:lstStyle/>
          <a:p>
            <a:pPr algn="l" indent="0" marL="0">
              <a:lnSpc>
                <a:spcPct val="100000"/>
              </a:lnSpc>
              <a:buNone/>
            </a:pPr>
            <a:r>
              <a:rPr lang="en-US" sz="4000" b="1" dirty="0">
                <a:solidFill>
                  <a:schemeClr val="accent2"/>
                </a:solidFill>
                <a:latin typeface="+mj-lt" pitchFamily="34" charset="0"/>
                <a:ea typeface="+mj-lt" pitchFamily="34" charset="-122"/>
                <a:cs typeface="+mj-lt" pitchFamily="34" charset="-120"/>
              </a:rPr>
              <a:t>25%</a:t>
            </a:r>
            <a:endParaRPr lang="en-US" sz="4000" dirty="0"/>
          </a:p>
        </p:txBody>
      </p:sp>
      <p:sp>
        <p:nvSpPr>
          <p:cNvPr id="11" name="Text 7"/>
          <p:cNvSpPr txBox="1"/>
          <p:nvPr/>
        </p:nvSpPr>
        <p:spPr>
          <a:xfrm>
            <a:off x="8076987" y="5092568"/>
            <a:ext cx="3301898" cy="482620"/>
          </a:xfrm>
          <a:prstGeom prst="rect">
            <a:avLst/>
          </a:prstGeom>
          <a:noFill/>
          <a:ln/>
        </p:spPr>
        <p:txBody>
          <a:bodyPr wrap="square" lIns="0" tIns="0" rIns="0" bIns="0" rtlCol="0" anchor="t"/>
          <a:lstStyle/>
          <a:p>
            <a:pPr algn="l" indent="0" marL="0">
              <a:lnSpc>
                <a:spcPct val="110000"/>
              </a:lnSpc>
              <a:buNone/>
            </a:pPr>
            <a:r>
              <a:rPr lang="en-US" sz="1400" dirty="0">
                <a:solidFill>
                  <a:srgbClr val="4A5865"/>
                </a:solidFill>
              </a:rPr>
              <a:t>of depot-to-area pairs have no open route (399 of 1,587)</a:t>
            </a:r>
            <a:endParaRPr lang="en-US" sz="14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The repair raises road coverage</a:t>
            </a:r>
            <a:endParaRPr lang="en-US" sz="3600" dirty="0"/>
          </a:p>
        </p:txBody>
      </p:sp>
      <p:graphicFrame>
        <p:nvGraphicFramePr>
          <p:cNvPr id="4" name="Chart 0" descr=""/>
          <p:cNvGraphicFramePr/>
          <p:nvPr/>
        </p:nvGraphicFramePr>
        <p:xfrm>
          <a:off x="812810" y="1523939"/>
          <a:ext cx="10566166" cy="4063868"/>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12810" y="5746638"/>
            <a:ext cx="10566166" cy="381030"/>
          </a:xfrm>
          <a:prstGeom prst="rect">
            <a:avLst/>
          </a:prstGeom>
          <a:noFill/>
          <a:ln/>
        </p:spPr>
        <p:txBody>
          <a:bodyPr wrap="square" lIns="0" tIns="0" rIns="0" bIns="0" rtlCol="0" anchor="t"/>
          <a:lstStyle/>
          <a:p>
            <a:pPr algn="l" indent="0" marL="0">
              <a:lnSpc>
                <a:spcPct val="110000"/>
              </a:lnSpc>
              <a:buNone/>
            </a:pPr>
            <a:r>
              <a:rPr lang="en-US" sz="1200" dirty="0">
                <a:solidFill>
                  <a:srgbClr val="4A5865"/>
                </a:solidFill>
              </a:rPr>
              <a:t>Areas reached by road, %, mean of three runs. The figure in brackets is the gain of the clamp-removed planner over the best baseline, in points.</a:t>
            </a:r>
            <a:endParaRPr lang="en-US" sz="12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What was tested, and what held</a:t>
            </a:r>
            <a:endParaRPr lang="en-US" sz="3600" dirty="0"/>
          </a:p>
        </p:txBody>
      </p:sp>
      <p:sp>
        <p:nvSpPr>
          <p:cNvPr id="4" name="Shape 1"/>
          <p:cNvSpPr/>
          <p:nvPr/>
        </p:nvSpPr>
        <p:spPr>
          <a:xfrm>
            <a:off x="812810" y="1619220"/>
            <a:ext cx="3386572" cy="1968429"/>
          </a:xfrm>
          <a:prstGeom prst="roundRect">
            <a:avLst>
              <a:gd name="adj" fmla="val 6452"/>
            </a:avLst>
          </a:prstGeom>
          <a:solidFill>
            <a:schemeClr val="bg2"/>
          </a:solidFill>
          <a:ln w="9525">
            <a:solidFill>
              <a:srgbClr val="D7DDD8"/>
            </a:solidFill>
            <a:prstDash val="solid"/>
          </a:ln>
        </p:spPr>
      </p:sp>
      <p:sp>
        <p:nvSpPr>
          <p:cNvPr id="5" name="Text 2"/>
          <p:cNvSpPr txBox="1"/>
          <p:nvPr/>
        </p:nvSpPr>
        <p:spPr>
          <a:xfrm>
            <a:off x="1041410" y="1860530"/>
            <a:ext cx="2927269" cy="634959"/>
          </a:xfrm>
          <a:prstGeom prst="rect">
            <a:avLst/>
          </a:prstGeom>
          <a:noFill/>
          <a:ln/>
        </p:spPr>
        <p:txBody>
          <a:bodyPr wrap="square" lIns="0" tIns="0" rIns="0" bIns="0" rtlCol="0" anchor="t"/>
          <a:lstStyle/>
          <a:p>
            <a:pPr algn="l" indent="0" marL="0">
              <a:lnSpc>
                <a:spcPct val="100000"/>
              </a:lnSpc>
              <a:buNone/>
            </a:pPr>
            <a:r>
              <a:rPr lang="en-US" sz="4400" b="1" dirty="0">
                <a:solidFill>
                  <a:schemeClr val="accent1"/>
                </a:solidFill>
                <a:latin typeface="+mj-lt" pitchFamily="34" charset="0"/>
                <a:ea typeface="+mj-lt" pitchFamily="34" charset="-122"/>
                <a:cs typeface="+mj-lt" pitchFamily="34" charset="-120"/>
              </a:rPr>
              <a:t>14 of 14</a:t>
            </a:r>
            <a:endParaRPr lang="en-US" sz="4400" dirty="0"/>
          </a:p>
        </p:txBody>
      </p:sp>
      <p:sp>
        <p:nvSpPr>
          <p:cNvPr id="6" name="Text 3"/>
          <p:cNvSpPr txBox="1"/>
          <p:nvPr/>
        </p:nvSpPr>
        <p:spPr>
          <a:xfrm>
            <a:off x="1041410" y="2635209"/>
            <a:ext cx="2927269" cy="82552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shipped tests pass with the one-line fix, in 1.8 seconds</a:t>
            </a:r>
            <a:endParaRPr lang="en-US" sz="1600" dirty="0"/>
          </a:p>
        </p:txBody>
      </p:sp>
      <p:sp>
        <p:nvSpPr>
          <p:cNvPr id="7" name="Shape 4"/>
          <p:cNvSpPr/>
          <p:nvPr/>
        </p:nvSpPr>
        <p:spPr>
          <a:xfrm>
            <a:off x="4402562" y="1619220"/>
            <a:ext cx="3386572" cy="1968429"/>
          </a:xfrm>
          <a:prstGeom prst="roundRect">
            <a:avLst>
              <a:gd name="adj" fmla="val 6452"/>
            </a:avLst>
          </a:prstGeom>
          <a:solidFill>
            <a:schemeClr val="bg2"/>
          </a:solidFill>
          <a:ln w="9525">
            <a:solidFill>
              <a:srgbClr val="D7DDD8"/>
            </a:solidFill>
            <a:prstDash val="solid"/>
          </a:ln>
        </p:spPr>
      </p:sp>
      <p:sp>
        <p:nvSpPr>
          <p:cNvPr id="8" name="Text 5"/>
          <p:cNvSpPr txBox="1"/>
          <p:nvPr/>
        </p:nvSpPr>
        <p:spPr>
          <a:xfrm>
            <a:off x="4631162" y="1860530"/>
            <a:ext cx="2927269" cy="634959"/>
          </a:xfrm>
          <a:prstGeom prst="rect">
            <a:avLst/>
          </a:prstGeom>
          <a:noFill/>
          <a:ln/>
        </p:spPr>
        <p:txBody>
          <a:bodyPr wrap="square" lIns="0" tIns="0" rIns="0" bIns="0" rtlCol="0" anchor="t"/>
          <a:lstStyle/>
          <a:p>
            <a:pPr algn="l" indent="0" marL="0">
              <a:lnSpc>
                <a:spcPct val="100000"/>
              </a:lnSpc>
              <a:buNone/>
            </a:pPr>
            <a:r>
              <a:rPr lang="en-US" sz="4400" b="1" dirty="0">
                <a:solidFill>
                  <a:schemeClr val="accent1"/>
                </a:solidFill>
                <a:latin typeface="+mj-lt" pitchFamily="34" charset="0"/>
                <a:ea typeface="+mj-lt" pitchFamily="34" charset="-122"/>
                <a:cs typeface="+mj-lt" pitchFamily="34" charset="-120"/>
              </a:rPr>
              <a:t>1,008</a:t>
            </a:r>
            <a:endParaRPr lang="en-US" sz="4400" dirty="0"/>
          </a:p>
        </p:txBody>
      </p:sp>
      <p:sp>
        <p:nvSpPr>
          <p:cNvPr id="9" name="Text 6"/>
          <p:cNvSpPr txBox="1"/>
          <p:nvPr/>
        </p:nvSpPr>
        <p:spPr>
          <a:xfrm>
            <a:off x="4631162" y="2635209"/>
            <a:ext cx="2927269" cy="82552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routes where A* matched Dijkstra's travel time exactly</a:t>
            </a:r>
            <a:endParaRPr lang="en-US" sz="1600" dirty="0"/>
          </a:p>
        </p:txBody>
      </p:sp>
      <p:sp>
        <p:nvSpPr>
          <p:cNvPr id="10" name="Shape 7"/>
          <p:cNvSpPr/>
          <p:nvPr/>
        </p:nvSpPr>
        <p:spPr>
          <a:xfrm>
            <a:off x="7992313" y="1619220"/>
            <a:ext cx="3386572" cy="1968429"/>
          </a:xfrm>
          <a:prstGeom prst="roundRect">
            <a:avLst>
              <a:gd name="adj" fmla="val 6452"/>
            </a:avLst>
          </a:prstGeom>
          <a:solidFill>
            <a:schemeClr val="bg2"/>
          </a:solidFill>
          <a:ln w="9525">
            <a:solidFill>
              <a:srgbClr val="D7DDD8"/>
            </a:solidFill>
            <a:prstDash val="solid"/>
          </a:ln>
        </p:spPr>
      </p:sp>
      <p:sp>
        <p:nvSpPr>
          <p:cNvPr id="11" name="Text 8"/>
          <p:cNvSpPr txBox="1"/>
          <p:nvPr/>
        </p:nvSpPr>
        <p:spPr>
          <a:xfrm>
            <a:off x="8220913" y="1860530"/>
            <a:ext cx="2927269" cy="634959"/>
          </a:xfrm>
          <a:prstGeom prst="rect">
            <a:avLst/>
          </a:prstGeom>
          <a:noFill/>
          <a:ln/>
        </p:spPr>
        <p:txBody>
          <a:bodyPr wrap="square" lIns="0" tIns="0" rIns="0" bIns="0" rtlCol="0" anchor="t"/>
          <a:lstStyle/>
          <a:p>
            <a:pPr algn="l" indent="0" marL="0">
              <a:lnSpc>
                <a:spcPct val="100000"/>
              </a:lnSpc>
              <a:buNone/>
            </a:pPr>
            <a:r>
              <a:rPr lang="en-US" sz="4400" b="1" dirty="0">
                <a:solidFill>
                  <a:schemeClr val="accent1"/>
                </a:solidFill>
                <a:latin typeface="+mj-lt" pitchFamily="34" charset="0"/>
                <a:ea typeface="+mj-lt" pitchFamily="34" charset="-122"/>
                <a:cs typeface="+mj-lt" pitchFamily="34" charset="-120"/>
              </a:rPr>
              <a:t>43</a:t>
            </a:r>
            <a:endParaRPr lang="en-US" sz="4400" dirty="0"/>
          </a:p>
        </p:txBody>
      </p:sp>
      <p:sp>
        <p:nvSpPr>
          <p:cNvPr id="12" name="Text 9"/>
          <p:cNvSpPr txBox="1"/>
          <p:nvPr/>
        </p:nvSpPr>
        <p:spPr>
          <a:xfrm>
            <a:off x="8220913" y="2635209"/>
            <a:ext cx="2927269" cy="82552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rain, wind and quake steps tested; the city meter never fell as a hazard rose</a:t>
            </a:r>
            <a:endParaRPr lang="en-US" sz="1600" dirty="0"/>
          </a:p>
        </p:txBody>
      </p:sp>
      <p:sp>
        <p:nvSpPr>
          <p:cNvPr id="13" name="Shape 10"/>
          <p:cNvSpPr/>
          <p:nvPr/>
        </p:nvSpPr>
        <p:spPr>
          <a:xfrm>
            <a:off x="812810" y="3790828"/>
            <a:ext cx="3386572" cy="1968429"/>
          </a:xfrm>
          <a:prstGeom prst="roundRect">
            <a:avLst>
              <a:gd name="adj" fmla="val 6452"/>
            </a:avLst>
          </a:prstGeom>
          <a:solidFill>
            <a:schemeClr val="bg2"/>
          </a:solidFill>
          <a:ln w="9525">
            <a:solidFill>
              <a:srgbClr val="D7DDD8"/>
            </a:solidFill>
            <a:prstDash val="solid"/>
          </a:ln>
        </p:spPr>
      </p:sp>
      <p:sp>
        <p:nvSpPr>
          <p:cNvPr id="14" name="Text 11"/>
          <p:cNvSpPr txBox="1"/>
          <p:nvPr/>
        </p:nvSpPr>
        <p:spPr>
          <a:xfrm>
            <a:off x="1041410" y="4032138"/>
            <a:ext cx="2927269" cy="634959"/>
          </a:xfrm>
          <a:prstGeom prst="rect">
            <a:avLst/>
          </a:prstGeom>
          <a:noFill/>
          <a:ln/>
        </p:spPr>
        <p:txBody>
          <a:bodyPr wrap="square" lIns="0" tIns="0" rIns="0" bIns="0" rtlCol="0" anchor="t"/>
          <a:lstStyle/>
          <a:p>
            <a:pPr algn="l" indent="0" marL="0">
              <a:lnSpc>
                <a:spcPct val="100000"/>
              </a:lnSpc>
              <a:buNone/>
            </a:pPr>
            <a:r>
              <a:rPr lang="en-US" sz="4400" b="1" dirty="0">
                <a:solidFill>
                  <a:schemeClr val="accent1"/>
                </a:solidFill>
                <a:latin typeface="+mj-lt" pitchFamily="34" charset="0"/>
                <a:ea typeface="+mj-lt" pitchFamily="34" charset="-122"/>
                <a:cs typeface="+mj-lt" pitchFamily="34" charset="-120"/>
              </a:rPr>
              <a:t>0.16 ms</a:t>
            </a:r>
            <a:endParaRPr lang="en-US" sz="4400" dirty="0"/>
          </a:p>
        </p:txBody>
      </p:sp>
      <p:sp>
        <p:nvSpPr>
          <p:cNvPr id="15" name="Text 12"/>
          <p:cNvSpPr txBox="1"/>
          <p:nvPr/>
        </p:nvSpPr>
        <p:spPr>
          <a:xfrm>
            <a:off x="1041410" y="4806818"/>
            <a:ext cx="2927269" cy="82552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to score the zones; the whole state builds in 16 ms</a:t>
            </a:r>
            <a:endParaRPr lang="en-US" sz="1600" dirty="0"/>
          </a:p>
        </p:txBody>
      </p:sp>
      <p:sp>
        <p:nvSpPr>
          <p:cNvPr id="16" name="Shape 13"/>
          <p:cNvSpPr/>
          <p:nvPr/>
        </p:nvSpPr>
        <p:spPr>
          <a:xfrm>
            <a:off x="4402562" y="3790828"/>
            <a:ext cx="3386572" cy="1968429"/>
          </a:xfrm>
          <a:prstGeom prst="roundRect">
            <a:avLst>
              <a:gd name="adj" fmla="val 6452"/>
            </a:avLst>
          </a:prstGeom>
          <a:solidFill>
            <a:schemeClr val="bg2"/>
          </a:solidFill>
          <a:ln w="9525">
            <a:solidFill>
              <a:srgbClr val="D7DDD8"/>
            </a:solidFill>
            <a:prstDash val="solid"/>
          </a:ln>
        </p:spPr>
      </p:sp>
      <p:sp>
        <p:nvSpPr>
          <p:cNvPr id="17" name="Text 14"/>
          <p:cNvSpPr txBox="1"/>
          <p:nvPr/>
        </p:nvSpPr>
        <p:spPr>
          <a:xfrm>
            <a:off x="4631162" y="4032138"/>
            <a:ext cx="2927269" cy="634959"/>
          </a:xfrm>
          <a:prstGeom prst="rect">
            <a:avLst/>
          </a:prstGeom>
          <a:noFill/>
          <a:ln/>
        </p:spPr>
        <p:txBody>
          <a:bodyPr wrap="square" lIns="0" tIns="0" rIns="0" bIns="0" rtlCol="0" anchor="t"/>
          <a:lstStyle/>
          <a:p>
            <a:pPr algn="l" indent="0" marL="0">
              <a:lnSpc>
                <a:spcPct val="100000"/>
              </a:lnSpc>
              <a:buNone/>
            </a:pPr>
            <a:r>
              <a:rPr lang="en-US" sz="4400" b="1" dirty="0">
                <a:solidFill>
                  <a:schemeClr val="accent1"/>
                </a:solidFill>
                <a:latin typeface="+mj-lt" pitchFamily="34" charset="0"/>
                <a:ea typeface="+mj-lt" pitchFamily="34" charset="-122"/>
                <a:cs typeface="+mj-lt" pitchFamily="34" charset="-120"/>
              </a:rPr>
              <a:t>7–12 s</a:t>
            </a:r>
            <a:endParaRPr lang="en-US" sz="4400" dirty="0"/>
          </a:p>
        </p:txBody>
      </p:sp>
      <p:sp>
        <p:nvSpPr>
          <p:cNvPr id="18" name="Text 15"/>
          <p:cNvSpPr txBox="1"/>
          <p:nvPr/>
        </p:nvSpPr>
        <p:spPr>
          <a:xfrm>
            <a:off x="4631162" y="4806818"/>
            <a:ext cx="2927269" cy="82552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for a later plan; the first plan takes 41 to 51 s while routes are cached</a:t>
            </a:r>
            <a:endParaRPr lang="en-US" sz="1600" dirty="0"/>
          </a:p>
        </p:txBody>
      </p:sp>
      <p:sp>
        <p:nvSpPr>
          <p:cNvPr id="19" name="Shape 16"/>
          <p:cNvSpPr/>
          <p:nvPr/>
        </p:nvSpPr>
        <p:spPr>
          <a:xfrm>
            <a:off x="7992313" y="3790828"/>
            <a:ext cx="3386572" cy="1968429"/>
          </a:xfrm>
          <a:prstGeom prst="roundRect">
            <a:avLst>
              <a:gd name="adj" fmla="val 6452"/>
            </a:avLst>
          </a:prstGeom>
          <a:solidFill>
            <a:schemeClr val="bg2"/>
          </a:solidFill>
          <a:ln w="9525">
            <a:solidFill>
              <a:srgbClr val="D7DDD8"/>
            </a:solidFill>
            <a:prstDash val="solid"/>
          </a:ln>
        </p:spPr>
      </p:sp>
      <p:sp>
        <p:nvSpPr>
          <p:cNvPr id="20" name="Text 17"/>
          <p:cNvSpPr txBox="1"/>
          <p:nvPr/>
        </p:nvSpPr>
        <p:spPr>
          <a:xfrm>
            <a:off x="8220913" y="4032138"/>
            <a:ext cx="2927269" cy="634959"/>
          </a:xfrm>
          <a:prstGeom prst="rect">
            <a:avLst/>
          </a:prstGeom>
          <a:noFill/>
          <a:ln/>
        </p:spPr>
        <p:txBody>
          <a:bodyPr wrap="square" lIns="0" tIns="0" rIns="0" bIns="0" rtlCol="0" anchor="t"/>
          <a:lstStyle/>
          <a:p>
            <a:pPr algn="l" indent="0" marL="0">
              <a:lnSpc>
                <a:spcPct val="100000"/>
              </a:lnSpc>
              <a:buNone/>
            </a:pPr>
            <a:r>
              <a:rPr lang="en-US" sz="4400" b="1" dirty="0">
                <a:solidFill>
                  <a:schemeClr val="accent1"/>
                </a:solidFill>
                <a:latin typeface="+mj-lt" pitchFamily="34" charset="0"/>
                <a:ea typeface="+mj-lt" pitchFamily="34" charset="-122"/>
                <a:cs typeface="+mj-lt" pitchFamily="34" charset="-120"/>
              </a:rPr>
              <a:t>24 of 24</a:t>
            </a:r>
            <a:endParaRPr lang="en-US" sz="4400" dirty="0"/>
          </a:p>
        </p:txBody>
      </p:sp>
      <p:sp>
        <p:nvSpPr>
          <p:cNvPr id="21" name="Text 18"/>
          <p:cNvSpPr txBox="1"/>
          <p:nvPr/>
        </p:nvSpPr>
        <p:spPr>
          <a:xfrm>
            <a:off x="8220913" y="4806818"/>
            <a:ext cx="2927269" cy="825520"/>
          </a:xfrm>
          <a:prstGeom prst="rect">
            <a:avLst/>
          </a:prstGeom>
          <a:noFill/>
          <a:ln/>
        </p:spPr>
        <p:txBody>
          <a:bodyPr wrap="square" lIns="0" tIns="0" rIns="0" bIns="0" rtlCol="0" anchor="t"/>
          <a:lstStyle/>
          <a:p>
            <a:pPr algn="l" indent="0" marL="0">
              <a:lnSpc>
                <a:spcPct val="110000"/>
              </a:lnSpc>
              <a:buNone/>
            </a:pPr>
            <a:r>
              <a:rPr lang="en-US" sz="1600" dirty="0">
                <a:solidFill>
                  <a:srgbClr val="4A5865"/>
                </a:solidFill>
              </a:rPr>
              <a:t>page and width combinations with no horizontal overflow</a:t>
            </a:r>
            <a:endParaRPr lang="en-US" sz="16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12810" y="711220"/>
            <a:ext cx="10566166" cy="660380"/>
          </a:xfrm>
          <a:prstGeom prst="rect">
            <a:avLst/>
          </a:prstGeom>
          <a:noFill/>
          <a:ln/>
        </p:spPr>
        <p:txBody>
          <a:bodyPr wrap="square" lIns="0" tIns="0" rIns="0" bIns="0" rtlCol="0" anchor="t"/>
          <a:lstStyle/>
          <a:p>
            <a:pPr algn="l" indent="0" marL="0">
              <a:buNone/>
            </a:pPr>
            <a:r>
              <a:rPr lang="en-US" sz="3600" b="1" dirty="0">
                <a:solidFill>
                  <a:schemeClr val="tx1"/>
                </a:solidFill>
              </a:rPr>
              <a:t>Limits, and what comes next</a:t>
            </a:r>
            <a:endParaRPr lang="en-US" sz="3600" dirty="0"/>
          </a:p>
        </p:txBody>
      </p:sp>
      <p:sp>
        <p:nvSpPr>
          <p:cNvPr id="4" name="Shape 1"/>
          <p:cNvSpPr/>
          <p:nvPr/>
        </p:nvSpPr>
        <p:spPr>
          <a:xfrm>
            <a:off x="812810" y="1619220"/>
            <a:ext cx="5181448" cy="4063868"/>
          </a:xfrm>
          <a:prstGeom prst="roundRect">
            <a:avLst>
              <a:gd name="adj" fmla="val 3125"/>
            </a:avLst>
          </a:prstGeom>
          <a:solidFill>
            <a:srgbClr val="F8E3DD"/>
          </a:solidFill>
          <a:ln w="9525">
            <a:solidFill>
              <a:srgbClr val="E8B9AC"/>
            </a:solidFill>
            <a:prstDash val="solid"/>
          </a:ln>
        </p:spPr>
      </p:sp>
      <p:sp>
        <p:nvSpPr>
          <p:cNvPr id="5" name="Text 2"/>
          <p:cNvSpPr txBox="1"/>
          <p:nvPr/>
        </p:nvSpPr>
        <p:spPr>
          <a:xfrm>
            <a:off x="1066739" y="1873240"/>
            <a:ext cx="4673498" cy="381030"/>
          </a:xfrm>
          <a:prstGeom prst="rect">
            <a:avLst/>
          </a:prstGeom>
          <a:noFill/>
          <a:ln/>
        </p:spPr>
        <p:txBody>
          <a:bodyPr wrap="square" lIns="0" tIns="0" rIns="0" bIns="0" rtlCol="0" anchor="t"/>
          <a:lstStyle/>
          <a:p>
            <a:pPr algn="l" indent="0" marL="0">
              <a:lnSpc>
                <a:spcPct val="110000"/>
              </a:lnSpc>
              <a:buNone/>
            </a:pPr>
            <a:r>
              <a:rPr lang="en-US" sz="2200" b="1" dirty="0">
                <a:solidFill>
                  <a:srgbClr val="A33018"/>
                </a:solidFill>
                <a:latin typeface="+mj-lt" pitchFamily="34" charset="0"/>
                <a:ea typeface="+mj-lt" pitchFamily="34" charset="-122"/>
                <a:cs typeface="+mj-lt" pitchFamily="34" charset="-120"/>
              </a:rPr>
              <a:t>Limits of this version</a:t>
            </a:r>
            <a:endParaRPr lang="en-US" sz="2200" dirty="0"/>
          </a:p>
        </p:txBody>
      </p:sp>
      <p:sp>
        <p:nvSpPr>
          <p:cNvPr id="6" name="Text 3"/>
          <p:cNvSpPr txBox="1"/>
          <p:nvPr/>
        </p:nvSpPr>
        <p:spPr>
          <a:xfrm>
            <a:off x="1066739" y="2444648"/>
            <a:ext cx="4673498" cy="609539"/>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Depots, stock, fleet and hotspots are placeholders, and populations are modelled.</a:t>
            </a:r>
            <a:endParaRPr lang="en-US" sz="1500" dirty="0"/>
          </a:p>
        </p:txBody>
      </p:sp>
      <p:sp>
        <p:nvSpPr>
          <p:cNvPr id="7" name="Shape 4"/>
          <p:cNvSpPr/>
          <p:nvPr/>
        </p:nvSpPr>
        <p:spPr>
          <a:xfrm>
            <a:off x="1066739" y="3079699"/>
            <a:ext cx="4673498" cy="0"/>
          </a:xfrm>
          <a:prstGeom prst="line">
            <a:avLst/>
          </a:prstGeom>
          <a:noFill/>
          <a:ln w="9525">
            <a:solidFill>
              <a:srgbClr val="E8B9AC"/>
            </a:solidFill>
            <a:prstDash val="solid"/>
          </a:ln>
        </p:spPr>
      </p:sp>
      <p:sp>
        <p:nvSpPr>
          <p:cNvPr id="8" name="Text 5"/>
          <p:cNvSpPr txBox="1"/>
          <p:nvPr/>
        </p:nvSpPr>
        <p:spPr>
          <a:xfrm>
            <a:off x="1066739" y="3193999"/>
            <a:ext cx="4673498" cy="609539"/>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Closure thresholds are not calibrated against real flood depths or observed closures.</a:t>
            </a:r>
            <a:endParaRPr lang="en-US" sz="1500" dirty="0"/>
          </a:p>
        </p:txBody>
      </p:sp>
      <p:sp>
        <p:nvSpPr>
          <p:cNvPr id="9" name="Shape 6"/>
          <p:cNvSpPr/>
          <p:nvPr/>
        </p:nvSpPr>
        <p:spPr>
          <a:xfrm>
            <a:off x="1066739" y="3828959"/>
            <a:ext cx="4673498" cy="0"/>
          </a:xfrm>
          <a:prstGeom prst="line">
            <a:avLst/>
          </a:prstGeom>
          <a:noFill/>
          <a:ln w="9525">
            <a:solidFill>
              <a:srgbClr val="E8B9AC"/>
            </a:solidFill>
            <a:prstDash val="solid"/>
          </a:ln>
        </p:spPr>
      </p:sp>
      <p:sp>
        <p:nvSpPr>
          <p:cNvPr id="10" name="Text 7"/>
          <p:cNvSpPr txBox="1"/>
          <p:nvPr/>
        </p:nvSpPr>
        <p:spPr>
          <a:xfrm>
            <a:off x="1066739" y="3943259"/>
            <a:ext cx="4673498" cy="609539"/>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Each truck makes one trip, and a plan covers at most 60 areas.</a:t>
            </a:r>
            <a:endParaRPr lang="en-US" sz="1500" dirty="0"/>
          </a:p>
        </p:txBody>
      </p:sp>
      <p:sp>
        <p:nvSpPr>
          <p:cNvPr id="11" name="Shape 8"/>
          <p:cNvSpPr/>
          <p:nvPr/>
        </p:nvSpPr>
        <p:spPr>
          <a:xfrm>
            <a:off x="1066739" y="4578218"/>
            <a:ext cx="4673498" cy="0"/>
          </a:xfrm>
          <a:prstGeom prst="line">
            <a:avLst/>
          </a:prstGeom>
          <a:noFill/>
          <a:ln w="9525">
            <a:solidFill>
              <a:srgbClr val="E8B9AC"/>
            </a:solidFill>
            <a:prstDash val="solid"/>
          </a:ln>
        </p:spPr>
      </p:sp>
      <p:sp>
        <p:nvSpPr>
          <p:cNvPr id="12" name="Text 9"/>
          <p:cNvSpPr txBox="1"/>
          <p:nvPr/>
        </p:nvSpPr>
        <p:spPr>
          <a:xfrm>
            <a:off x="1066739" y="4692518"/>
            <a:ext cx="4673498" cy="609539"/>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Each result is the mean of three runs, and the repair was measured on a patched copy.</a:t>
            </a:r>
            <a:endParaRPr lang="en-US" sz="1500" dirty="0"/>
          </a:p>
        </p:txBody>
      </p:sp>
      <p:sp>
        <p:nvSpPr>
          <p:cNvPr id="13" name="Shape 10"/>
          <p:cNvSpPr/>
          <p:nvPr/>
        </p:nvSpPr>
        <p:spPr>
          <a:xfrm>
            <a:off x="6197437" y="1619220"/>
            <a:ext cx="5181448" cy="4063868"/>
          </a:xfrm>
          <a:prstGeom prst="roundRect">
            <a:avLst>
              <a:gd name="adj" fmla="val 3125"/>
            </a:avLst>
          </a:prstGeom>
          <a:solidFill>
            <a:srgbClr val="E6EFF9"/>
          </a:solidFill>
          <a:ln w="9525">
            <a:solidFill>
              <a:srgbClr val="B9D1EC"/>
            </a:solidFill>
            <a:prstDash val="solid"/>
          </a:ln>
        </p:spPr>
      </p:sp>
      <p:sp>
        <p:nvSpPr>
          <p:cNvPr id="14" name="Text 11"/>
          <p:cNvSpPr txBox="1"/>
          <p:nvPr/>
        </p:nvSpPr>
        <p:spPr>
          <a:xfrm>
            <a:off x="6451458" y="1873240"/>
            <a:ext cx="4673498" cy="381030"/>
          </a:xfrm>
          <a:prstGeom prst="rect">
            <a:avLst/>
          </a:prstGeom>
          <a:noFill/>
          <a:ln/>
        </p:spPr>
        <p:txBody>
          <a:bodyPr wrap="square" lIns="0" tIns="0" rIns="0" bIns="0" rtlCol="0" anchor="t"/>
          <a:lstStyle/>
          <a:p>
            <a:pPr algn="l" indent="0" marL="0">
              <a:lnSpc>
                <a:spcPct val="110000"/>
              </a:lnSpc>
              <a:buNone/>
            </a:pPr>
            <a:r>
              <a:rPr lang="en-US" sz="2200" b="1" dirty="0">
                <a:solidFill>
                  <a:srgbClr val="14508F"/>
                </a:solidFill>
                <a:latin typeface="+mj-lt" pitchFamily="34" charset="0"/>
                <a:ea typeface="+mj-lt" pitchFamily="34" charset="-122"/>
                <a:cs typeface="+mj-lt" pitchFamily="34" charset="-120"/>
              </a:rPr>
              <a:t>Next steps</a:t>
            </a:r>
            <a:endParaRPr lang="en-US" sz="2200" dirty="0"/>
          </a:p>
        </p:txBody>
      </p:sp>
      <p:sp>
        <p:nvSpPr>
          <p:cNvPr id="15" name="Text 12"/>
          <p:cNvSpPr txBox="1"/>
          <p:nvPr/>
        </p:nvSpPr>
        <p:spPr>
          <a:xfrm>
            <a:off x="6451458" y="2444648"/>
            <a:ext cx="4673498" cy="609539"/>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Apply the repair in the app, and show reported and road coverage side by side.</a:t>
            </a:r>
            <a:endParaRPr lang="en-US" sz="1500" dirty="0"/>
          </a:p>
        </p:txBody>
      </p:sp>
      <p:sp>
        <p:nvSpPr>
          <p:cNvPr id="16" name="Shape 13"/>
          <p:cNvSpPr/>
          <p:nvPr/>
        </p:nvSpPr>
        <p:spPr>
          <a:xfrm>
            <a:off x="6451458" y="3079699"/>
            <a:ext cx="4673498" cy="0"/>
          </a:xfrm>
          <a:prstGeom prst="line">
            <a:avLst/>
          </a:prstGeom>
          <a:noFill/>
          <a:ln w="9525">
            <a:solidFill>
              <a:srgbClr val="B9D1EC"/>
            </a:solidFill>
            <a:prstDash val="solid"/>
          </a:ln>
        </p:spPr>
      </p:sp>
      <p:sp>
        <p:nvSpPr>
          <p:cNvPr id="17" name="Text 14"/>
          <p:cNvSpPr txBox="1"/>
          <p:nvPr/>
        </p:nvSpPr>
        <p:spPr>
          <a:xfrm>
            <a:off x="6451458" y="3193999"/>
            <a:ext cx="4673498" cy="609539"/>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Allow several trips per truck, which raises the one-trip ceiling.</a:t>
            </a:r>
            <a:endParaRPr lang="en-US" sz="1500" dirty="0"/>
          </a:p>
        </p:txBody>
      </p:sp>
      <p:sp>
        <p:nvSpPr>
          <p:cNvPr id="18" name="Shape 15"/>
          <p:cNvSpPr/>
          <p:nvPr/>
        </p:nvSpPr>
        <p:spPr>
          <a:xfrm>
            <a:off x="6451458" y="3828959"/>
            <a:ext cx="4673498" cy="0"/>
          </a:xfrm>
          <a:prstGeom prst="line">
            <a:avLst/>
          </a:prstGeom>
          <a:noFill/>
          <a:ln w="9525">
            <a:solidFill>
              <a:srgbClr val="B9D1EC"/>
            </a:solidFill>
            <a:prstDash val="solid"/>
          </a:ln>
        </p:spPr>
      </p:sp>
      <p:sp>
        <p:nvSpPr>
          <p:cNvPr id="19" name="Text 16"/>
          <p:cNvSpPr txBox="1"/>
          <p:nvPr/>
        </p:nvSpPr>
        <p:spPr>
          <a:xfrm>
            <a:off x="6451458" y="3943259"/>
            <a:ext cx="4673498" cy="609539"/>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Calibrate closures against observed flood depths and road closures.</a:t>
            </a:r>
            <a:endParaRPr lang="en-US" sz="1500" dirty="0"/>
          </a:p>
        </p:txBody>
      </p:sp>
      <p:sp>
        <p:nvSpPr>
          <p:cNvPr id="20" name="Shape 17"/>
          <p:cNvSpPr/>
          <p:nvPr/>
        </p:nvSpPr>
        <p:spPr>
          <a:xfrm>
            <a:off x="6451458" y="4578218"/>
            <a:ext cx="4673498" cy="0"/>
          </a:xfrm>
          <a:prstGeom prst="line">
            <a:avLst/>
          </a:prstGeom>
          <a:noFill/>
          <a:ln w="9525">
            <a:solidFill>
              <a:srgbClr val="B9D1EC"/>
            </a:solidFill>
            <a:prstDash val="solid"/>
          </a:ln>
        </p:spPr>
      </p:sp>
      <p:sp>
        <p:nvSpPr>
          <p:cNvPr id="21" name="Text 18"/>
          <p:cNvSpPr txBox="1"/>
          <p:nvPr/>
        </p:nvSpPr>
        <p:spPr>
          <a:xfrm>
            <a:off x="6451458" y="4692518"/>
            <a:ext cx="4673498" cy="609539"/>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Compare against hybrid genetic search, and test the explanations with users.</a:t>
            </a:r>
            <a:endParaRPr lang="en-US" sz="1500" dirty="0"/>
          </a:p>
        </p:txBody>
      </p:sp>
      <p:sp>
        <p:nvSpPr>
          <p:cNvPr id="25" name="Slide Number Placeholder 0"/>
          <p:cNvSpPr>
            <a:spLocks noGrp="1"/>
          </p:cNvSpPr>
          <p:nvPr>
            <p:ph type="sldNum" sz="quarter" idx="4294967295"/>
          </p:nvPr>
        </p:nvSpPr>
        <p:spPr>
          <a:xfrm>
            <a:off x="9474007" y="6299027"/>
            <a:ext cx="1904970" cy="203180"/>
          </a:xfrm>
          <a:prstGeom prst="rect">
            <a:avLst/>
          </a:prstGeom>
          <a:extLst>
            <a:ext uri="{C572A759-6A51-4108-AA02-DFA0A04FC94B}">
              <ma14:wrappingTextBoxFlag xmlns:ma14="http://schemas.microsoft.com/office/mac/drawingml/2011/main" val="0"/>
            </a:ext>
          </a:extLst>
        </p:spPr>
        <p:txBody>
          <a:bodyPr/>
          <a:lstStyle>
            <a:lvl1pPr>
              <a:defRPr sz="1200">
                <a:solidFill>
                  <a:srgbClr val="5C69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812810" y="2730398"/>
            <a:ext cx="5206868" cy="761970"/>
          </a:xfrm>
          <a:prstGeom prst="rect">
            <a:avLst/>
          </a:prstGeom>
          <a:noFill/>
          <a:ln/>
        </p:spPr>
        <p:txBody>
          <a:bodyPr wrap="square" lIns="0" tIns="0" rIns="0" bIns="0" rtlCol="0" anchor="t"/>
          <a:lstStyle/>
          <a:p>
            <a:pPr algn="l" indent="0" marL="0">
              <a:buNone/>
            </a:pPr>
            <a:r>
              <a:rPr lang="en-US" sz="7200" b="1" dirty="0">
                <a:solidFill>
                  <a:schemeClr val="bg1"/>
                </a:solidFill>
              </a:rPr>
              <a:t>Thank you</a:t>
            </a:r>
            <a:endParaRPr lang="en-US" sz="7200" dirty="0"/>
          </a:p>
        </p:txBody>
      </p:sp>
      <p:sp>
        <p:nvSpPr>
          <p:cNvPr id="4" name="Text 1"/>
          <p:cNvSpPr txBox="1"/>
          <p:nvPr/>
        </p:nvSpPr>
        <p:spPr>
          <a:xfrm>
            <a:off x="812810" y="711220"/>
            <a:ext cx="4444898" cy="254020"/>
          </a:xfrm>
          <a:prstGeom prst="rect">
            <a:avLst/>
          </a:prstGeom>
          <a:noFill/>
          <a:ln/>
        </p:spPr>
        <p:txBody>
          <a:bodyPr wrap="square" lIns="0" tIns="0" rIns="0" bIns="0" rtlCol="0" anchor="t"/>
          <a:lstStyle/>
          <a:p>
            <a:pPr algn="l" indent="0" marL="0">
              <a:lnSpc>
                <a:spcPct val="110000"/>
              </a:lnSpc>
              <a:buNone/>
            </a:pPr>
            <a:r>
              <a:rPr lang="en-US" sz="1400" b="1" spc="100" kern="0" dirty="0">
                <a:solidFill>
                  <a:schemeClr val="accent5"/>
                </a:solidFill>
              </a:rPr>
              <a:t>Chennai Relief Control</a:t>
            </a:r>
            <a:endParaRPr lang="en-US" sz="1400" dirty="0"/>
          </a:p>
        </p:txBody>
      </p:sp>
      <p:sp>
        <p:nvSpPr>
          <p:cNvPr id="5" name="Text 2"/>
          <p:cNvSpPr txBox="1"/>
          <p:nvPr/>
        </p:nvSpPr>
        <p:spPr>
          <a:xfrm>
            <a:off x="812810" y="3968679"/>
            <a:ext cx="5206868" cy="381030"/>
          </a:xfrm>
          <a:prstGeom prst="rect">
            <a:avLst/>
          </a:prstGeom>
          <a:noFill/>
          <a:ln/>
        </p:spPr>
        <p:txBody>
          <a:bodyPr wrap="square" lIns="0" tIns="0" rIns="0" bIns="0" rtlCol="0" anchor="t"/>
          <a:lstStyle/>
          <a:p>
            <a:pPr algn="l" indent="0" marL="0">
              <a:lnSpc>
                <a:spcPct val="110000"/>
              </a:lnSpc>
              <a:buNone/>
            </a:pPr>
            <a:r>
              <a:rPr lang="en-US" sz="2000" dirty="0">
                <a:solidFill>
                  <a:srgbClr val="B4C3D1"/>
                </a:solidFill>
              </a:rPr>
              <a:t>Questions are welcome.</a:t>
            </a:r>
            <a:endParaRPr lang="en-US" sz="2000" dirty="0"/>
          </a:p>
        </p:txBody>
      </p:sp>
      <p:sp>
        <p:nvSpPr>
          <p:cNvPr id="6" name="Text 3"/>
          <p:cNvSpPr txBox="1"/>
          <p:nvPr/>
        </p:nvSpPr>
        <p:spPr>
          <a:xfrm>
            <a:off x="812810" y="5435468"/>
            <a:ext cx="4444898" cy="254020"/>
          </a:xfrm>
          <a:prstGeom prst="rect">
            <a:avLst/>
          </a:prstGeom>
          <a:noFill/>
          <a:ln/>
        </p:spPr>
        <p:txBody>
          <a:bodyPr wrap="square" lIns="0" tIns="0" rIns="0" bIns="0" rtlCol="0" anchor="t"/>
          <a:lstStyle/>
          <a:p>
            <a:pPr algn="l" indent="0" marL="0">
              <a:lnSpc>
                <a:spcPct val="110000"/>
              </a:lnSpc>
              <a:buNone/>
            </a:pPr>
            <a:r>
              <a:rPr lang="en-US" sz="1500" b="1" dirty="0">
                <a:solidFill>
                  <a:schemeClr val="bg1"/>
                </a:solidFill>
              </a:rPr>
              <a:t>Jobeson Julius and Pragadeesh S</a:t>
            </a:r>
            <a:endParaRPr lang="en-US" sz="1500" dirty="0"/>
          </a:p>
        </p:txBody>
      </p:sp>
      <p:sp>
        <p:nvSpPr>
          <p:cNvPr id="7" name="Text 4"/>
          <p:cNvSpPr txBox="1"/>
          <p:nvPr/>
        </p:nvSpPr>
        <p:spPr>
          <a:xfrm>
            <a:off x="812810" y="5714817"/>
            <a:ext cx="4444898" cy="254020"/>
          </a:xfrm>
          <a:prstGeom prst="rect">
            <a:avLst/>
          </a:prstGeom>
          <a:noFill/>
          <a:ln/>
        </p:spPr>
        <p:txBody>
          <a:bodyPr wrap="square" lIns="0" tIns="0" rIns="0" bIns="0" rtlCol="0" anchor="t"/>
          <a:lstStyle/>
          <a:p>
            <a:pPr algn="l" indent="0" marL="0">
              <a:lnSpc>
                <a:spcPct val="110000"/>
              </a:lnSpc>
              <a:buNone/>
            </a:pPr>
            <a:r>
              <a:rPr lang="en-US" sz="1300" dirty="0">
                <a:solidFill>
                  <a:srgbClr val="B4C3D1"/>
                </a:solidFill>
              </a:rPr>
              <a:t>Rajalakshmi Engineering College, Chennai</a:t>
            </a:r>
            <a:endParaRPr lang="en-US" sz="1300" dirty="0"/>
          </a:p>
        </p:txBody>
      </p:sp>
      <p:sp>
        <p:nvSpPr>
          <p:cNvPr id="8" name="Text 5"/>
          <p:cNvSpPr txBox="1"/>
          <p:nvPr/>
        </p:nvSpPr>
        <p:spPr>
          <a:xfrm>
            <a:off x="5867248" y="1904970"/>
            <a:ext cx="5511637" cy="698510"/>
          </a:xfrm>
          <a:prstGeom prst="rect">
            <a:avLst/>
          </a:prstGeom>
          <a:noFill/>
          <a:ln/>
        </p:spPr>
        <p:txBody>
          <a:bodyPr wrap="square" lIns="0" tIns="0" rIns="0" bIns="0" rtlCol="0" anchor="t"/>
          <a:lstStyle/>
          <a:p>
            <a:pPr algn="l" indent="0" marL="0">
              <a:lnSpc>
                <a:spcPct val="110000"/>
              </a:lnSpc>
              <a:buNone/>
            </a:pPr>
            <a:r>
              <a:rPr lang="en-US" sz="2000" dirty="0">
                <a:solidFill>
                  <a:schemeClr val="bg1"/>
                </a:solidFill>
                <a:latin typeface="+mj-lt" pitchFamily="34" charset="0"/>
                <a:ea typeface="+mj-lt" pitchFamily="34" charset="-122"/>
                <a:cs typeface="+mj-lt" pitchFamily="34" charset="-120"/>
              </a:rPr>
              <a:t>Every number traces to a rule: classical AI, with no black box.</a:t>
            </a:r>
            <a:endParaRPr lang="en-US" sz="2000" dirty="0"/>
          </a:p>
        </p:txBody>
      </p:sp>
      <p:sp>
        <p:nvSpPr>
          <p:cNvPr id="9" name="Shape 6"/>
          <p:cNvSpPr/>
          <p:nvPr/>
        </p:nvSpPr>
        <p:spPr>
          <a:xfrm>
            <a:off x="5867248" y="2857409"/>
            <a:ext cx="5511637" cy="0"/>
          </a:xfrm>
          <a:prstGeom prst="line">
            <a:avLst/>
          </a:prstGeom>
          <a:noFill/>
          <a:ln w="9525">
            <a:solidFill>
              <a:srgbClr val="2A435C"/>
            </a:solidFill>
            <a:prstDash val="solid"/>
          </a:ln>
        </p:spPr>
      </p:sp>
      <p:sp>
        <p:nvSpPr>
          <p:cNvPr id="10" name="Text 7"/>
          <p:cNvSpPr txBox="1"/>
          <p:nvPr/>
        </p:nvSpPr>
        <p:spPr>
          <a:xfrm>
            <a:off x="5867248" y="3111429"/>
            <a:ext cx="5511637" cy="698510"/>
          </a:xfrm>
          <a:prstGeom prst="rect">
            <a:avLst/>
          </a:prstGeom>
          <a:noFill/>
          <a:ln/>
        </p:spPr>
        <p:txBody>
          <a:bodyPr wrap="square" lIns="0" tIns="0" rIns="0" bIns="0" rtlCol="0" anchor="t"/>
          <a:lstStyle/>
          <a:p>
            <a:pPr algn="l" indent="0" marL="0">
              <a:lnSpc>
                <a:spcPct val="110000"/>
              </a:lnSpc>
              <a:buNone/>
            </a:pPr>
            <a:r>
              <a:rPr lang="en-US" sz="2000" dirty="0">
                <a:solidFill>
                  <a:schemeClr val="bg1"/>
                </a:solidFill>
                <a:latin typeface="+mj-lt" pitchFamily="34" charset="0"/>
                <a:ea typeface="+mj-lt" pitchFamily="34" charset="-122"/>
                <a:cs typeface="+mj-lt" pitchFamily="34" charset="-120"/>
              </a:rPr>
              <a:t>The audit found two faults that the tests had missed.</a:t>
            </a:r>
            <a:endParaRPr lang="en-US" sz="2000" dirty="0"/>
          </a:p>
        </p:txBody>
      </p:sp>
      <p:sp>
        <p:nvSpPr>
          <p:cNvPr id="11" name="Shape 8"/>
          <p:cNvSpPr/>
          <p:nvPr/>
        </p:nvSpPr>
        <p:spPr>
          <a:xfrm>
            <a:off x="5867248" y="4063868"/>
            <a:ext cx="5511637" cy="0"/>
          </a:xfrm>
          <a:prstGeom prst="line">
            <a:avLst/>
          </a:prstGeom>
          <a:noFill/>
          <a:ln w="9525">
            <a:solidFill>
              <a:srgbClr val="2A435C"/>
            </a:solidFill>
            <a:prstDash val="solid"/>
          </a:ln>
        </p:spPr>
      </p:sp>
      <p:sp>
        <p:nvSpPr>
          <p:cNvPr id="12" name="Text 9"/>
          <p:cNvSpPr txBox="1"/>
          <p:nvPr/>
        </p:nvSpPr>
        <p:spPr>
          <a:xfrm>
            <a:off x="5867248" y="4317888"/>
            <a:ext cx="5511637" cy="698510"/>
          </a:xfrm>
          <a:prstGeom prst="rect">
            <a:avLst/>
          </a:prstGeom>
          <a:noFill/>
          <a:ln/>
        </p:spPr>
        <p:txBody>
          <a:bodyPr wrap="square" lIns="0" tIns="0" rIns="0" bIns="0" rtlCol="0" anchor="t"/>
          <a:lstStyle/>
          <a:p>
            <a:pPr algn="l" indent="0" marL="0">
              <a:lnSpc>
                <a:spcPct val="110000"/>
              </a:lnSpc>
              <a:buNone/>
            </a:pPr>
            <a:r>
              <a:rPr lang="en-US" sz="2000" dirty="0">
                <a:solidFill>
                  <a:schemeClr val="bg1"/>
                </a:solidFill>
                <a:latin typeface="+mj-lt" pitchFamily="34" charset="0"/>
                <a:ea typeface="+mj-lt" pitchFamily="34" charset="-122"/>
                <a:cs typeface="+mj-lt" pitchFamily="34" charset="-120"/>
              </a:rPr>
              <a:t>One line lifts road coverage in the 2015 floods from 43.0% to 64.8%.</a:t>
            </a:r>
            <a:endParaRPr lang="en-US" sz="2000" dirty="0"/>
          </a:p>
        </p:txBody>
      </p:sp>
    </p:spTree>
  </p:cSld>
  <p:clrMapOvr>
    <a:masterClrMapping/>
  </p:clrMapOvr>
</p:sld>
</file>

<file path=ppt/theme/theme1.xml><?xml version="1.0" encoding="utf-8"?>
<a:theme xmlns:a="http://schemas.openxmlformats.org/drawingml/2006/main" name="Chennai Relief Control">
  <a:themeElements>
    <a:clrScheme name="Chennai Relief Control">
      <a:dk1>
        <a:srgbClr val="0C1A29"/>
      </a:dk1>
      <a:lt1>
        <a:srgbClr val="F2F4F1"/>
      </a:lt1>
      <a:dk2>
        <a:srgbClr val="14283C"/>
      </a:dk2>
      <a:lt2>
        <a:srgbClr val="FBFCFA"/>
      </a:lt2>
      <a:accent1>
        <a:srgbClr val="1F6AB8"/>
      </a:accent1>
      <a:accent2>
        <a:srgbClr val="C23B22"/>
      </a:accent2>
      <a:accent3>
        <a:srgbClr val="5E6C78"/>
      </a:accent3>
      <a:accent4>
        <a:srgbClr val="B9C6D2"/>
      </a:accent4>
      <a:accent5>
        <a:srgbClr val="6DB3F2"/>
      </a:accent5>
      <a:accent6>
        <a:srgbClr val="D98A2B"/>
      </a:accent6>
      <a:hlink>
        <a:srgbClr val="1F6AB8"/>
      </a:hlink>
      <a:folHlink>
        <a:srgbClr val="5E6C78"/>
      </a:folHlink>
    </a:clrScheme>
    <a:fontScheme name="Chennai Relief Contro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Chennai Relief Control</dc:title>
  <dc:subject>PptxGenJS Presentation</dc:subject>
  <dc:creator>Jobeson Julius</dc:creator>
  <cp:lastModifiedBy>Jobeson Julius</cp:lastModifiedBy>
  <cp:revision>1</cp:revision>
  <dcterms:created xsi:type="dcterms:W3CDTF">2026-10-10T14:29:28Z</dcterms:created>
  <dcterms:modified xsi:type="dcterms:W3CDTF">2026-10-10T14:29:28Z</dcterms:modified>
</cp:coreProperties>
</file>